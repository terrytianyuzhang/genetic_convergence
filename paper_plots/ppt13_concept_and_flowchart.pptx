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60" r:id="rId2"/>
  </p:sldIdLst>
  <p:sldSz cx="128016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242"/>
    <a:srgbClr val="457499"/>
    <a:srgbClr val="013E75"/>
    <a:srgbClr val="6D3991"/>
    <a:srgbClr val="F5B70A"/>
    <a:srgbClr val="FEFEFE"/>
    <a:srgbClr val="FDFDFD"/>
    <a:srgbClr val="F5F5F5"/>
    <a:srgbClr val="FAFAF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/>
    <p:restoredTop sz="94626"/>
  </p:normalViewPr>
  <p:slideViewPr>
    <p:cSldViewPr snapToGrid="0">
      <p:cViewPr>
        <p:scale>
          <a:sx n="65" d="100"/>
          <a:sy n="65" d="100"/>
        </p:scale>
        <p:origin x="20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095078"/>
            <a:ext cx="10881360" cy="4456853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6723804"/>
            <a:ext cx="9601200" cy="3090756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7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5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3191514"/>
            <a:ext cx="11041380" cy="5325109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8567000"/>
            <a:ext cx="11041380" cy="2800349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3407833"/>
            <a:ext cx="544068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3407833"/>
            <a:ext cx="544068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681570"/>
            <a:ext cx="1104138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3138171"/>
            <a:ext cx="5415676" cy="1537969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4676140"/>
            <a:ext cx="5415676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3138171"/>
            <a:ext cx="5442347" cy="1537969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4676140"/>
            <a:ext cx="544234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3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3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853440"/>
            <a:ext cx="4128849" cy="298704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843196"/>
            <a:ext cx="6480810" cy="9097433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840480"/>
            <a:ext cx="4128849" cy="7114964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9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853440"/>
            <a:ext cx="4128849" cy="298704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843196"/>
            <a:ext cx="6480810" cy="9097433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840480"/>
            <a:ext cx="4128849" cy="7114964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91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9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681567"/>
            <a:ext cx="2760345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681567"/>
            <a:ext cx="8121015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9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681570"/>
            <a:ext cx="1104138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3407833"/>
            <a:ext cx="1104138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1865189"/>
            <a:ext cx="288036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5FAA8-77F2-5C42-A9DC-2A9BDE3DA24F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1865189"/>
            <a:ext cx="43205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1865189"/>
            <a:ext cx="288036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2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A4A929D-C22D-54CC-8014-C5476EAB76B3}"/>
              </a:ext>
            </a:extLst>
          </p:cNvPr>
          <p:cNvGrpSpPr/>
          <p:nvPr/>
        </p:nvGrpSpPr>
        <p:grpSpPr>
          <a:xfrm>
            <a:off x="685147" y="249759"/>
            <a:ext cx="11084693" cy="5458225"/>
            <a:chOff x="456143" y="457666"/>
            <a:chExt cx="11084693" cy="545822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68B42B9-6C8A-4C4A-E4E6-37A38605D073}"/>
                </a:ext>
              </a:extLst>
            </p:cNvPr>
            <p:cNvGrpSpPr/>
            <p:nvPr/>
          </p:nvGrpSpPr>
          <p:grpSpPr>
            <a:xfrm>
              <a:off x="471058" y="1755195"/>
              <a:ext cx="11069778" cy="4160696"/>
              <a:chOff x="471058" y="1755195"/>
              <a:chExt cx="11069778" cy="3719629"/>
            </a:xfrm>
          </p:grpSpPr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4A8A3B33-9438-8778-CF87-C9C3858524A8}"/>
                  </a:ext>
                </a:extLst>
              </p:cNvPr>
              <p:cNvSpPr/>
              <p:nvPr/>
            </p:nvSpPr>
            <p:spPr>
              <a:xfrm>
                <a:off x="5336939" y="2926584"/>
                <a:ext cx="4016359" cy="1616126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24242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CE4C0204-C2B3-F3BB-FA8C-6A7875D60F22}"/>
                  </a:ext>
                </a:extLst>
              </p:cNvPr>
              <p:cNvSpPr/>
              <p:nvPr/>
            </p:nvSpPr>
            <p:spPr>
              <a:xfrm>
                <a:off x="471058" y="3324509"/>
                <a:ext cx="6384004" cy="2150315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24242"/>
                  </a:solidFill>
                </a:endParaRPr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38772056-9C42-3F97-AB27-82F4B7246CDE}"/>
                  </a:ext>
                </a:extLst>
              </p:cNvPr>
              <p:cNvSpPr/>
              <p:nvPr/>
            </p:nvSpPr>
            <p:spPr>
              <a:xfrm>
                <a:off x="5924701" y="1755195"/>
                <a:ext cx="5616135" cy="3719629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24242"/>
                  </a:solidFill>
                </a:endParaRPr>
              </a:p>
            </p:txBody>
          </p:sp>
        </p:grp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A78CA5B-2492-6739-2A71-6A7C482BC058}"/>
                </a:ext>
              </a:extLst>
            </p:cNvPr>
            <p:cNvSpPr/>
            <p:nvPr/>
          </p:nvSpPr>
          <p:spPr>
            <a:xfrm>
              <a:off x="456143" y="1738597"/>
              <a:ext cx="5468558" cy="17554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424242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23AB842-C9A5-E930-B696-904C610B2327}"/>
                </a:ext>
              </a:extLst>
            </p:cNvPr>
            <p:cNvGrpSpPr/>
            <p:nvPr/>
          </p:nvGrpSpPr>
          <p:grpSpPr>
            <a:xfrm>
              <a:off x="3211623" y="457666"/>
              <a:ext cx="6111353" cy="982271"/>
              <a:chOff x="3211623" y="539152"/>
              <a:chExt cx="6111353" cy="98227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50ED957-C02F-618B-EF60-9B6FADCF98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81300" y="564765"/>
                <a:ext cx="4572000" cy="914400"/>
              </a:xfrm>
              <a:prstGeom prst="rect">
                <a:avLst/>
              </a:prstGeom>
            </p:spPr>
          </p:pic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1AD5235-358A-2216-EC29-B650A4B1468D}"/>
                  </a:ext>
                </a:extLst>
              </p:cNvPr>
              <p:cNvGrpSpPr/>
              <p:nvPr/>
            </p:nvGrpSpPr>
            <p:grpSpPr>
              <a:xfrm>
                <a:off x="3211623" y="539152"/>
                <a:ext cx="6111353" cy="982271"/>
                <a:chOff x="3169075" y="559866"/>
                <a:chExt cx="6111353" cy="982271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0046F3C-395E-86FF-97BE-88B451192406}"/>
                    </a:ext>
                  </a:extLst>
                </p:cNvPr>
                <p:cNvSpPr txBox="1"/>
                <p:nvPr/>
              </p:nvSpPr>
              <p:spPr>
                <a:xfrm>
                  <a:off x="3169075" y="845076"/>
                  <a:ext cx="101602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424242"/>
                      </a:solidFill>
                    </a:rPr>
                    <a:t>Control</a:t>
                  </a:r>
                  <a:endParaRPr lang="en-US" sz="1600" b="1" dirty="0">
                    <a:solidFill>
                      <a:srgbClr val="457499"/>
                    </a:solidFill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4AABF93-93C7-9A83-3621-E3D8D26C9DA4}"/>
                    </a:ext>
                  </a:extLst>
                </p:cNvPr>
                <p:cNvSpPr txBox="1"/>
                <p:nvPr/>
              </p:nvSpPr>
              <p:spPr>
                <a:xfrm>
                  <a:off x="4439871" y="559866"/>
                  <a:ext cx="3627684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424242"/>
                      </a:solidFill>
                    </a:rPr>
                    <a:t>Baseline averaged expression levels</a:t>
                  </a:r>
                  <a:endParaRPr lang="en-US" sz="1600" b="1" dirty="0">
                    <a:solidFill>
                      <a:srgbClr val="457499"/>
                    </a:solidFill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33A4E30-DF31-0713-A9F5-2AC0EE3C27D3}"/>
                    </a:ext>
                  </a:extLst>
                </p:cNvPr>
                <p:cNvSpPr txBox="1"/>
                <p:nvPr/>
              </p:nvSpPr>
              <p:spPr>
                <a:xfrm>
                  <a:off x="4092502" y="1203583"/>
                  <a:ext cx="1046658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424242"/>
                      </a:solidFill>
                    </a:rPr>
                    <a:t>Gene 1</a:t>
                  </a:r>
                  <a:endParaRPr lang="en-US" sz="1600" b="1" dirty="0">
                    <a:solidFill>
                      <a:srgbClr val="457499"/>
                    </a:solidFill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1CEF9CE-6A91-53A4-E275-30872781ED84}"/>
                    </a:ext>
                  </a:extLst>
                </p:cNvPr>
                <p:cNvSpPr txBox="1"/>
                <p:nvPr/>
              </p:nvSpPr>
              <p:spPr>
                <a:xfrm>
                  <a:off x="8233770" y="1191919"/>
                  <a:ext cx="1046658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424242"/>
                      </a:solidFill>
                    </a:rPr>
                    <a:t>Gene p</a:t>
                  </a:r>
                  <a:endParaRPr lang="en-US" sz="1600" b="1" dirty="0">
                    <a:solidFill>
                      <a:srgbClr val="457499"/>
                    </a:solidFill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949435-24A4-A954-D5B0-DD7091462E73}"/>
                </a:ext>
              </a:extLst>
            </p:cNvPr>
            <p:cNvGrpSpPr/>
            <p:nvPr/>
          </p:nvGrpSpPr>
          <p:grpSpPr>
            <a:xfrm>
              <a:off x="536911" y="2286233"/>
              <a:ext cx="5151195" cy="1340195"/>
              <a:chOff x="536911" y="1814747"/>
              <a:chExt cx="5151195" cy="1340195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34FD34C8-4BC2-ADC0-238B-84B442EAB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6106" y="1814747"/>
                <a:ext cx="4572000" cy="914400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094E4A54-EBA4-0112-DEEB-15424796B3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6106" y="2240542"/>
                <a:ext cx="4572000" cy="914400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5C0F9B0-455E-0166-90AC-64E7D2996D60}"/>
                  </a:ext>
                </a:extLst>
              </p:cNvPr>
              <p:cNvSpPr txBox="1"/>
              <p:nvPr/>
            </p:nvSpPr>
            <p:spPr>
              <a:xfrm>
                <a:off x="536912" y="2087281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Pert1</a:t>
                </a:r>
                <a:endParaRPr lang="en-US" sz="1600" b="1" dirty="0">
                  <a:solidFill>
                    <a:srgbClr val="457499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90ADCA-6C63-CE9F-78B3-5FF4723C1FC6}"/>
                  </a:ext>
                </a:extLst>
              </p:cNvPr>
              <p:cNvSpPr txBox="1"/>
              <p:nvPr/>
            </p:nvSpPr>
            <p:spPr>
              <a:xfrm>
                <a:off x="536911" y="2524313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Pert2</a:t>
                </a:r>
                <a:endParaRPr lang="en-US" sz="1600" b="1" dirty="0">
                  <a:solidFill>
                    <a:srgbClr val="457499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5E46B8-264A-A0A3-37F6-4D610BEFE873}"/>
                </a:ext>
              </a:extLst>
            </p:cNvPr>
            <p:cNvGrpSpPr/>
            <p:nvPr/>
          </p:nvGrpSpPr>
          <p:grpSpPr>
            <a:xfrm>
              <a:off x="536911" y="4114633"/>
              <a:ext cx="5151195" cy="1363345"/>
              <a:chOff x="536911" y="3719636"/>
              <a:chExt cx="5151195" cy="1363345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5076C7A-47D2-9655-2376-DEA31F0CAA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6106" y="3719636"/>
                <a:ext cx="4572000" cy="914400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883FC4DF-4E4D-D8FD-96EA-90FFEB931F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6106" y="4168581"/>
                <a:ext cx="4572000" cy="914400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ECD0126-BFFD-54C6-0B0E-A881EF0FD353}"/>
                  </a:ext>
                </a:extLst>
              </p:cNvPr>
              <p:cNvSpPr txBox="1"/>
              <p:nvPr/>
            </p:nvSpPr>
            <p:spPr>
              <a:xfrm>
                <a:off x="536912" y="4018295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Pert1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6A76AF-7B3F-4EFF-5E67-2021A29A643A}"/>
                  </a:ext>
                </a:extLst>
              </p:cNvPr>
              <p:cNvSpPr txBox="1"/>
              <p:nvPr/>
            </p:nvSpPr>
            <p:spPr>
              <a:xfrm>
                <a:off x="536911" y="4455327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Pert2</a:t>
                </a:r>
                <a:endParaRPr lang="en-US" sz="1600" b="1" dirty="0">
                  <a:solidFill>
                    <a:srgbClr val="457499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5A565B0-5ACB-4ED0-34E5-53F9908399AC}"/>
                </a:ext>
              </a:extLst>
            </p:cNvPr>
            <p:cNvGrpSpPr/>
            <p:nvPr/>
          </p:nvGrpSpPr>
          <p:grpSpPr>
            <a:xfrm>
              <a:off x="6267300" y="2286233"/>
              <a:ext cx="5159762" cy="1340195"/>
              <a:chOff x="6684997" y="1814747"/>
              <a:chExt cx="5159762" cy="134019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C3B23E0-4868-EFEA-91A8-9A5C4C946B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72759" y="1814747"/>
                <a:ext cx="4572000" cy="91440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18122BB-F18C-DC92-E014-16E969C710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72759" y="2240542"/>
                <a:ext cx="4572000" cy="914400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7F688FF-5418-4E29-C8BA-4662C86B094A}"/>
                  </a:ext>
                </a:extLst>
              </p:cNvPr>
              <p:cNvSpPr txBox="1"/>
              <p:nvPr/>
            </p:nvSpPr>
            <p:spPr>
              <a:xfrm>
                <a:off x="6684998" y="2097094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Pert1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4AF3B7-23D3-C394-F613-B9B140945F03}"/>
                  </a:ext>
                </a:extLst>
              </p:cNvPr>
              <p:cNvSpPr txBox="1"/>
              <p:nvPr/>
            </p:nvSpPr>
            <p:spPr>
              <a:xfrm>
                <a:off x="6684997" y="2534126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Pert2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B9A01D4-01CC-CC34-F887-458563CE76B6}"/>
                </a:ext>
              </a:extLst>
            </p:cNvPr>
            <p:cNvGrpSpPr/>
            <p:nvPr/>
          </p:nvGrpSpPr>
          <p:grpSpPr>
            <a:xfrm>
              <a:off x="6267300" y="4037673"/>
              <a:ext cx="5159762" cy="1363345"/>
              <a:chOff x="6684997" y="3719636"/>
              <a:chExt cx="5159762" cy="1363345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294A0609-AEC8-9F21-4E7B-04E795AC1E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72759" y="3719636"/>
                <a:ext cx="4572000" cy="9144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E1AF486-0396-AA73-FD9F-29B80FF112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72759" y="4168581"/>
                <a:ext cx="4572000" cy="9144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425B39-A298-29A3-5075-EB98F20FD9A4}"/>
                  </a:ext>
                </a:extLst>
              </p:cNvPr>
              <p:cNvSpPr txBox="1"/>
              <p:nvPr/>
            </p:nvSpPr>
            <p:spPr>
              <a:xfrm>
                <a:off x="6684998" y="4012338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Pert1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464DF8-F438-D8D1-50A1-92A85A537834}"/>
                  </a:ext>
                </a:extLst>
              </p:cNvPr>
              <p:cNvSpPr txBox="1"/>
              <p:nvPr/>
            </p:nvSpPr>
            <p:spPr>
              <a:xfrm>
                <a:off x="6684997" y="4449370"/>
                <a:ext cx="79417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424242"/>
                    </a:solidFill>
                  </a:rPr>
                  <a:t>Pert2</a:t>
                </a:r>
                <a:endParaRPr lang="en-US" b="1" dirty="0">
                  <a:solidFill>
                    <a:srgbClr val="457499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B152E2-820F-F282-D531-1B0F47C4DA55}"/>
                </a:ext>
              </a:extLst>
            </p:cNvPr>
            <p:cNvSpPr txBox="1"/>
            <p:nvPr/>
          </p:nvSpPr>
          <p:spPr>
            <a:xfrm>
              <a:off x="2066969" y="3786503"/>
              <a:ext cx="2415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4242"/>
                  </a:solidFill>
                </a:rPr>
                <a:t>Positively correlated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472012-4055-021D-8B41-95CA2CA96B41}"/>
                </a:ext>
              </a:extLst>
            </p:cNvPr>
            <p:cNvSpPr txBox="1"/>
            <p:nvPr/>
          </p:nvSpPr>
          <p:spPr>
            <a:xfrm>
              <a:off x="7623389" y="1950523"/>
              <a:ext cx="2447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4242"/>
                  </a:solidFill>
                </a:rPr>
                <a:t>Negatively correlated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8C61A8-A72B-7452-2366-02FB207E60AB}"/>
                </a:ext>
              </a:extLst>
            </p:cNvPr>
            <p:cNvSpPr txBox="1"/>
            <p:nvPr/>
          </p:nvSpPr>
          <p:spPr>
            <a:xfrm>
              <a:off x="7852561" y="3772648"/>
              <a:ext cx="1989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4242"/>
                  </a:solidFill>
                </a:rPr>
                <a:t>Mosaic similarity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55277A-C18A-D44C-847C-C9DABE13DCBB}"/>
                </a:ext>
              </a:extLst>
            </p:cNvPr>
            <p:cNvSpPr txBox="1"/>
            <p:nvPr/>
          </p:nvSpPr>
          <p:spPr>
            <a:xfrm>
              <a:off x="2317529" y="1950523"/>
              <a:ext cx="1914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4242"/>
                  </a:solidFill>
                </a:rPr>
                <a:t>No convergence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D23980-2186-29DD-BE62-90853F08D078}"/>
                </a:ext>
              </a:extLst>
            </p:cNvPr>
            <p:cNvSpPr txBox="1"/>
            <p:nvPr/>
          </p:nvSpPr>
          <p:spPr>
            <a:xfrm>
              <a:off x="8466352" y="5525790"/>
              <a:ext cx="275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solidFill>
                    <a:srgbClr val="424242"/>
                  </a:solidFill>
                </a:rPr>
                <a:t>Modes of convergence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5C6AF00-1313-BA42-6586-99173938BD24}"/>
              </a:ext>
            </a:extLst>
          </p:cNvPr>
          <p:cNvSpPr txBox="1"/>
          <p:nvPr/>
        </p:nvSpPr>
        <p:spPr>
          <a:xfrm>
            <a:off x="664545" y="211597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7B1E38-B6F8-A2F2-F503-30CCECBA3F57}"/>
              </a:ext>
            </a:extLst>
          </p:cNvPr>
          <p:cNvSpPr txBox="1"/>
          <p:nvPr/>
        </p:nvSpPr>
        <p:spPr>
          <a:xfrm>
            <a:off x="664545" y="6378967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b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7A8F8FF-BADB-4B01-84B7-734101C86588}"/>
              </a:ext>
            </a:extLst>
          </p:cNvPr>
          <p:cNvSpPr/>
          <p:nvPr/>
        </p:nvSpPr>
        <p:spPr>
          <a:xfrm>
            <a:off x="859601" y="1207421"/>
            <a:ext cx="256093" cy="235693"/>
          </a:xfrm>
          <a:prstGeom prst="roundRect">
            <a:avLst/>
          </a:prstGeom>
          <a:solidFill>
            <a:srgbClr val="F5B7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F589F19-274E-4F91-1B35-7995D7C77F7E}"/>
              </a:ext>
            </a:extLst>
          </p:cNvPr>
          <p:cNvSpPr/>
          <p:nvPr/>
        </p:nvSpPr>
        <p:spPr>
          <a:xfrm>
            <a:off x="1849204" y="1212574"/>
            <a:ext cx="244894" cy="225386"/>
          </a:xfrm>
          <a:prstGeom prst="roundRect">
            <a:avLst/>
          </a:prstGeom>
          <a:solidFill>
            <a:srgbClr val="013E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E50C57-7220-9DC7-484E-47C41D57D4B8}"/>
              </a:ext>
            </a:extLst>
          </p:cNvPr>
          <p:cNvSpPr txBox="1"/>
          <p:nvPr/>
        </p:nvSpPr>
        <p:spPr>
          <a:xfrm>
            <a:off x="1190920" y="1155990"/>
            <a:ext cx="46076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424242"/>
                </a:solidFill>
              </a:rPr>
              <a:t>Up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1ABC26-C172-ACB0-1030-3A53E82524FF}"/>
              </a:ext>
            </a:extLst>
          </p:cNvPr>
          <p:cNvSpPr txBox="1"/>
          <p:nvPr/>
        </p:nvSpPr>
        <p:spPr>
          <a:xfrm>
            <a:off x="2122357" y="1155990"/>
            <a:ext cx="74141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424242"/>
                </a:solidFill>
              </a:rPr>
              <a:t>Down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4670569-0B41-F6D5-DEDA-FABE10FA3F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34549" y="9922641"/>
            <a:ext cx="1885637" cy="915713"/>
          </a:xfrm>
          <a:prstGeom prst="rect">
            <a:avLst/>
          </a:prstGeom>
          <a:ln>
            <a:solidFill>
              <a:srgbClr val="6D3991"/>
            </a:solidFill>
          </a:ln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8BB8C62-DA53-8E17-98F7-F3F610A9FF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52566" y="9837376"/>
            <a:ext cx="1893317" cy="946189"/>
          </a:xfrm>
          <a:prstGeom prst="rect">
            <a:avLst/>
          </a:prstGeom>
          <a:ln>
            <a:solidFill>
              <a:srgbClr val="457499"/>
            </a:solidFill>
          </a:ln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A74CABDC-695A-5EBF-A973-7DAF73A3E17D}"/>
              </a:ext>
            </a:extLst>
          </p:cNvPr>
          <p:cNvGrpSpPr/>
          <p:nvPr/>
        </p:nvGrpSpPr>
        <p:grpSpPr>
          <a:xfrm>
            <a:off x="1254743" y="6494848"/>
            <a:ext cx="10321811" cy="5608666"/>
            <a:chOff x="960976" y="541503"/>
            <a:chExt cx="7643869" cy="3980428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C2721E8D-73B1-6A99-D344-A58734246B37}"/>
                </a:ext>
              </a:extLst>
            </p:cNvPr>
            <p:cNvSpPr/>
            <p:nvPr/>
          </p:nvSpPr>
          <p:spPr>
            <a:xfrm>
              <a:off x="1386218" y="2768130"/>
              <a:ext cx="3919797" cy="1422309"/>
            </a:xfrm>
            <a:prstGeom prst="roundRect">
              <a:avLst/>
            </a:prstGeom>
            <a:noFill/>
            <a:ln>
              <a:solidFill>
                <a:srgbClr val="45749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4A6A9CBA-63A9-8813-2306-0BE7B8BF5494}"/>
                </a:ext>
              </a:extLst>
            </p:cNvPr>
            <p:cNvSpPr/>
            <p:nvPr/>
          </p:nvSpPr>
          <p:spPr>
            <a:xfrm>
              <a:off x="5611914" y="2765630"/>
              <a:ext cx="2722323" cy="1422308"/>
            </a:xfrm>
            <a:prstGeom prst="roundRect">
              <a:avLst/>
            </a:prstGeom>
            <a:noFill/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B55AE63-A7CB-1E71-632C-2DC6D12D8786}"/>
                </a:ext>
              </a:extLst>
            </p:cNvPr>
            <p:cNvGrpSpPr/>
            <p:nvPr/>
          </p:nvGrpSpPr>
          <p:grpSpPr>
            <a:xfrm>
              <a:off x="960976" y="974792"/>
              <a:ext cx="7643869" cy="3547139"/>
              <a:chOff x="1152682" y="925552"/>
              <a:chExt cx="7643869" cy="3547139"/>
            </a:xfrm>
          </p:grpSpPr>
          <p:sp>
            <p:nvSpPr>
              <p:cNvPr id="79" name="Rounded Rectangle 78">
                <a:extLst>
                  <a:ext uri="{FF2B5EF4-FFF2-40B4-BE49-F238E27FC236}">
                    <a16:creationId xmlns:a16="http://schemas.microsoft.com/office/drawing/2014/main" id="{B0843F62-9CA9-F46A-6D1B-2050285B894C}"/>
                  </a:ext>
                </a:extLst>
              </p:cNvPr>
              <p:cNvSpPr/>
              <p:nvPr/>
            </p:nvSpPr>
            <p:spPr>
              <a:xfrm>
                <a:off x="1152682" y="925552"/>
                <a:ext cx="7643869" cy="3547139"/>
              </a:xfrm>
              <a:prstGeom prst="roundRect">
                <a:avLst/>
              </a:prstGeom>
              <a:noFill/>
              <a:ln w="57150">
                <a:solidFill>
                  <a:schemeClr val="bg2">
                    <a:lumMod val="9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AFABBD6D-B87E-5A09-0613-F7C20887F48D}"/>
                  </a:ext>
                </a:extLst>
              </p:cNvPr>
              <p:cNvCxnSpPr/>
              <p:nvPr/>
            </p:nvCxnSpPr>
            <p:spPr>
              <a:xfrm>
                <a:off x="6096000" y="925552"/>
                <a:ext cx="892097" cy="0"/>
              </a:xfrm>
              <a:prstGeom prst="straightConnector1">
                <a:avLst/>
              </a:prstGeom>
              <a:ln w="57150"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24160434-9894-8142-DA48-E34E70CC3D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42557" y="4468530"/>
                <a:ext cx="1752601" cy="0"/>
              </a:xfrm>
              <a:prstGeom prst="straightConnector1">
                <a:avLst/>
              </a:prstGeom>
              <a:ln w="57150"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B7CED6B-DF73-F28D-7444-C2913BFE573E}"/>
                </a:ext>
              </a:extLst>
            </p:cNvPr>
            <p:cNvSpPr txBox="1"/>
            <p:nvPr/>
          </p:nvSpPr>
          <p:spPr>
            <a:xfrm>
              <a:off x="1250082" y="541503"/>
              <a:ext cx="5623109" cy="27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919191"/>
                  </a:solidFill>
                </a:rPr>
                <a:t>Swap</a:t>
              </a:r>
              <a:r>
                <a:rPr lang="en-US" b="1" i="1" dirty="0">
                  <a:solidFill>
                    <a:srgbClr val="919191"/>
                  </a:solidFill>
                </a:rPr>
                <a:t> </a:t>
              </a:r>
              <a:r>
                <a:rPr lang="en-US" b="1" i="1" dirty="0">
                  <a:solidFill>
                    <a:srgbClr val="457499"/>
                  </a:solidFill>
                </a:rPr>
                <a:t>train</a:t>
              </a:r>
              <a:r>
                <a:rPr lang="en-US" b="1" i="1" dirty="0">
                  <a:solidFill>
                    <a:srgbClr val="919191"/>
                  </a:solidFill>
                </a:rPr>
                <a:t>/</a:t>
              </a:r>
              <a:r>
                <a:rPr lang="en-US" b="1" i="1" dirty="0">
                  <a:solidFill>
                    <a:srgbClr val="6D3991"/>
                  </a:solidFill>
                </a:rPr>
                <a:t>validation</a:t>
              </a:r>
              <a:r>
                <a:rPr lang="en-US" b="1" dirty="0">
                  <a:solidFill>
                    <a:srgbClr val="919191"/>
                  </a:solidFill>
                </a:rPr>
                <a:t>, then aggregate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66738C5-BF5D-1299-43A1-B3218321F847}"/>
                </a:ext>
              </a:extLst>
            </p:cNvPr>
            <p:cNvSpPr txBox="1"/>
            <p:nvPr/>
          </p:nvSpPr>
          <p:spPr>
            <a:xfrm>
              <a:off x="1742883" y="3035600"/>
              <a:ext cx="811412" cy="27799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57499"/>
                  </a:solidFill>
                </a:rPr>
                <a:t>Pert.1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2ED65B4-A5AA-5DB0-1019-76E5E2DEF7AA}"/>
                </a:ext>
              </a:extLst>
            </p:cNvPr>
            <p:cNvGrpSpPr/>
            <p:nvPr/>
          </p:nvGrpSpPr>
          <p:grpSpPr>
            <a:xfrm>
              <a:off x="1327435" y="1468457"/>
              <a:ext cx="7000899" cy="718721"/>
              <a:chOff x="1320220" y="1457169"/>
              <a:chExt cx="7000899" cy="718721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D5C8A6E-029C-7263-AA9F-58E280FA38BB}"/>
                  </a:ext>
                </a:extLst>
              </p:cNvPr>
              <p:cNvSpPr txBox="1"/>
              <p:nvPr/>
            </p:nvSpPr>
            <p:spPr>
              <a:xfrm>
                <a:off x="1320220" y="1468180"/>
                <a:ext cx="1716522" cy="6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424242"/>
                    </a:solidFill>
                  </a:rPr>
                  <a:t>Candidate feature</a:t>
                </a:r>
              </a:p>
              <a:p>
                <a:r>
                  <a:rPr lang="en-US" b="1" dirty="0">
                    <a:solidFill>
                      <a:srgbClr val="424242"/>
                    </a:solidFill>
                  </a:rPr>
                  <a:t>discovery. </a:t>
                </a:r>
              </a:p>
              <a:p>
                <a:r>
                  <a:rPr lang="en-US" b="1" dirty="0">
                    <a:solidFill>
                      <a:srgbClr val="457499"/>
                    </a:solidFill>
                  </a:rPr>
                  <a:t>Pert.1 vs. Control 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7553504-0850-4AB7-6A8A-89C88DDCA194}"/>
                  </a:ext>
                </a:extLst>
              </p:cNvPr>
              <p:cNvSpPr txBox="1"/>
              <p:nvPr/>
            </p:nvSpPr>
            <p:spPr>
              <a:xfrm>
                <a:off x="3808757" y="1480900"/>
                <a:ext cx="2075312" cy="694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424242"/>
                    </a:solidFill>
                  </a:rPr>
                  <a:t>Convergence feature extraction. </a:t>
                </a:r>
              </a:p>
              <a:p>
                <a:r>
                  <a:rPr lang="en-US" b="1" dirty="0">
                    <a:solidFill>
                      <a:srgbClr val="457499"/>
                    </a:solidFill>
                  </a:rPr>
                  <a:t>Pert.2 vs. Control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03F94C2-85D4-F4AE-A66F-9E165AD413A4}"/>
                  </a:ext>
                </a:extLst>
              </p:cNvPr>
              <p:cNvSpPr txBox="1"/>
              <p:nvPr/>
            </p:nvSpPr>
            <p:spPr>
              <a:xfrm>
                <a:off x="6472486" y="1457169"/>
                <a:ext cx="1848633" cy="6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Significance assessment. </a:t>
                </a:r>
              </a:p>
              <a:p>
                <a:r>
                  <a:rPr lang="en-US" b="1" dirty="0">
                    <a:solidFill>
                      <a:srgbClr val="6D3991"/>
                    </a:solidFill>
                  </a:rPr>
                  <a:t>Pert.2 vs. Control 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CE2CEB2-3A9F-A811-3588-F6C38486FF65}"/>
                </a:ext>
              </a:extLst>
            </p:cNvPr>
            <p:cNvGrpSpPr/>
            <p:nvPr/>
          </p:nvGrpSpPr>
          <p:grpSpPr>
            <a:xfrm>
              <a:off x="1133045" y="1225264"/>
              <a:ext cx="7340567" cy="1215483"/>
              <a:chOff x="1133045" y="1225264"/>
              <a:chExt cx="7340567" cy="1215483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81C5A792-2AE3-A7E9-2498-812A5358B801}"/>
                  </a:ext>
                </a:extLst>
              </p:cNvPr>
              <p:cNvSpPr/>
              <p:nvPr/>
            </p:nvSpPr>
            <p:spPr>
              <a:xfrm>
                <a:off x="1133045" y="1225264"/>
                <a:ext cx="2241397" cy="1215483"/>
              </a:xfrm>
              <a:prstGeom prst="roundRect">
                <a:avLst/>
              </a:prstGeom>
              <a:noFill/>
              <a:ln>
                <a:solidFill>
                  <a:srgbClr val="42424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24242"/>
                  </a:solidFill>
                </a:endParaRPr>
              </a:p>
            </p:txBody>
          </p:sp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E81A7B3B-9B72-0A1A-271A-A744415D3B25}"/>
                  </a:ext>
                </a:extLst>
              </p:cNvPr>
              <p:cNvSpPr/>
              <p:nvPr/>
            </p:nvSpPr>
            <p:spPr>
              <a:xfrm>
                <a:off x="3682630" y="1225264"/>
                <a:ext cx="2241397" cy="1215483"/>
              </a:xfrm>
              <a:prstGeom prst="roundRect">
                <a:avLst/>
              </a:prstGeom>
              <a:noFill/>
              <a:ln>
                <a:solidFill>
                  <a:srgbClr val="42424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24242"/>
                  </a:solidFill>
                </a:endParaRPr>
              </a:p>
            </p:txBody>
          </p:sp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6211C46E-815E-4CE1-1DA1-11C858A8A632}"/>
                  </a:ext>
                </a:extLst>
              </p:cNvPr>
              <p:cNvSpPr/>
              <p:nvPr/>
            </p:nvSpPr>
            <p:spPr>
              <a:xfrm>
                <a:off x="6232215" y="1225264"/>
                <a:ext cx="2241397" cy="1215483"/>
              </a:xfrm>
              <a:prstGeom prst="roundRect">
                <a:avLst/>
              </a:prstGeom>
              <a:noFill/>
              <a:ln>
                <a:solidFill>
                  <a:srgbClr val="42424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24242"/>
                  </a:solidFill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F69FE99-ACD1-AE46-9081-27B576911A9C}"/>
                </a:ext>
              </a:extLst>
            </p:cNvPr>
            <p:cNvSpPr txBox="1"/>
            <p:nvPr/>
          </p:nvSpPr>
          <p:spPr>
            <a:xfrm>
              <a:off x="5900017" y="3121494"/>
              <a:ext cx="787714" cy="2779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6D3991"/>
                  </a:solidFill>
                </a:rPr>
                <a:t>Control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885891-43A0-2EB2-E330-0D4563FEC469}"/>
                </a:ext>
              </a:extLst>
            </p:cNvPr>
            <p:cNvGrpSpPr/>
            <p:nvPr/>
          </p:nvGrpSpPr>
          <p:grpSpPr>
            <a:xfrm>
              <a:off x="2140700" y="2512391"/>
              <a:ext cx="5327989" cy="214949"/>
              <a:chOff x="2140700" y="2512391"/>
              <a:chExt cx="5327989" cy="214949"/>
            </a:xfrm>
          </p:grpSpPr>
          <p:sp>
            <p:nvSpPr>
              <p:cNvPr id="70" name="Right Arrow 69">
                <a:extLst>
                  <a:ext uri="{FF2B5EF4-FFF2-40B4-BE49-F238E27FC236}">
                    <a16:creationId xmlns:a16="http://schemas.microsoft.com/office/drawing/2014/main" id="{AE09CE6C-21A5-2B90-E789-799820D874CF}"/>
                  </a:ext>
                </a:extLst>
              </p:cNvPr>
              <p:cNvSpPr/>
              <p:nvPr/>
            </p:nvSpPr>
            <p:spPr>
              <a:xfrm rot="16200000">
                <a:off x="2091113" y="2561978"/>
                <a:ext cx="214949" cy="115776"/>
              </a:xfrm>
              <a:prstGeom prst="rightArrow">
                <a:avLst/>
              </a:prstGeom>
              <a:noFill/>
              <a:ln>
                <a:solidFill>
                  <a:srgbClr val="4574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ight Arrow 70">
                <a:extLst>
                  <a:ext uri="{FF2B5EF4-FFF2-40B4-BE49-F238E27FC236}">
                    <a16:creationId xmlns:a16="http://schemas.microsoft.com/office/drawing/2014/main" id="{D9C5EF92-79B5-3524-904C-176E8D701420}"/>
                  </a:ext>
                </a:extLst>
              </p:cNvPr>
              <p:cNvSpPr/>
              <p:nvPr/>
            </p:nvSpPr>
            <p:spPr>
              <a:xfrm rot="16200000">
                <a:off x="4697220" y="2561978"/>
                <a:ext cx="214949" cy="115776"/>
              </a:xfrm>
              <a:prstGeom prst="rightArrow">
                <a:avLst/>
              </a:prstGeom>
              <a:noFill/>
              <a:ln>
                <a:solidFill>
                  <a:srgbClr val="4574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ight Arrow 71">
                <a:extLst>
                  <a:ext uri="{FF2B5EF4-FFF2-40B4-BE49-F238E27FC236}">
                    <a16:creationId xmlns:a16="http://schemas.microsoft.com/office/drawing/2014/main" id="{E3AB9A9A-50E2-ED4A-8652-4D38B0CFA7CF}"/>
                  </a:ext>
                </a:extLst>
              </p:cNvPr>
              <p:cNvSpPr/>
              <p:nvPr/>
            </p:nvSpPr>
            <p:spPr>
              <a:xfrm rot="16200000">
                <a:off x="7303326" y="2561978"/>
                <a:ext cx="214949" cy="115776"/>
              </a:xfrm>
              <a:prstGeom prst="rightArrow">
                <a:avLst/>
              </a:prstGeom>
              <a:noFill/>
              <a:ln>
                <a:solidFill>
                  <a:srgbClr val="6D399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Right Arrow 65">
              <a:extLst>
                <a:ext uri="{FF2B5EF4-FFF2-40B4-BE49-F238E27FC236}">
                  <a16:creationId xmlns:a16="http://schemas.microsoft.com/office/drawing/2014/main" id="{141FBF23-C037-8D8F-8D0F-DA187ADA9E69}"/>
                </a:ext>
              </a:extLst>
            </p:cNvPr>
            <p:cNvSpPr/>
            <p:nvPr/>
          </p:nvSpPr>
          <p:spPr>
            <a:xfrm>
              <a:off x="3410928" y="1753112"/>
              <a:ext cx="214949" cy="115776"/>
            </a:xfrm>
            <a:prstGeom prst="rightArrow">
              <a:avLst/>
            </a:prstGeom>
            <a:solidFill>
              <a:srgbClr val="42424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ight Arrow 66">
              <a:extLst>
                <a:ext uri="{FF2B5EF4-FFF2-40B4-BE49-F238E27FC236}">
                  <a16:creationId xmlns:a16="http://schemas.microsoft.com/office/drawing/2014/main" id="{E6A4CF8C-71D1-2399-DC45-FFC492778225}"/>
                </a:ext>
              </a:extLst>
            </p:cNvPr>
            <p:cNvSpPr/>
            <p:nvPr/>
          </p:nvSpPr>
          <p:spPr>
            <a:xfrm>
              <a:off x="5988525" y="1753112"/>
              <a:ext cx="214949" cy="115776"/>
            </a:xfrm>
            <a:prstGeom prst="rightArrow">
              <a:avLst/>
            </a:prstGeom>
            <a:solidFill>
              <a:srgbClr val="42424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5DFA174-276D-5434-ED74-11D5FD853EEE}"/>
                </a:ext>
              </a:extLst>
            </p:cNvPr>
            <p:cNvSpPr txBox="1"/>
            <p:nvPr/>
          </p:nvSpPr>
          <p:spPr>
            <a:xfrm>
              <a:off x="1474843" y="3856751"/>
              <a:ext cx="9131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i="1" dirty="0">
                  <a:solidFill>
                    <a:srgbClr val="457499"/>
                  </a:solidFill>
                </a:rPr>
                <a:t>Training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62C2669-0641-55F9-5AA0-3698EEFFA41F}"/>
                </a:ext>
              </a:extLst>
            </p:cNvPr>
            <p:cNvSpPr txBox="1"/>
            <p:nvPr/>
          </p:nvSpPr>
          <p:spPr>
            <a:xfrm>
              <a:off x="5634504" y="3870846"/>
              <a:ext cx="1126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i="1" dirty="0">
                  <a:solidFill>
                    <a:srgbClr val="6D3991"/>
                  </a:solidFill>
                </a:rPr>
                <a:t>Validation</a:t>
              </a: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982636A3-2B26-321F-6EAA-C9D46CFD8F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3435" y="10209894"/>
            <a:ext cx="1879529" cy="1006685"/>
          </a:xfrm>
          <a:prstGeom prst="rect">
            <a:avLst/>
          </a:prstGeom>
          <a:ln>
            <a:solidFill>
              <a:srgbClr val="457499"/>
            </a:solidFill>
          </a:ln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B775BFF-1A31-81A7-C7F0-2A67A54BA5A9}"/>
              </a:ext>
            </a:extLst>
          </p:cNvPr>
          <p:cNvSpPr txBox="1"/>
          <p:nvPr/>
        </p:nvSpPr>
        <p:spPr>
          <a:xfrm>
            <a:off x="3662062" y="10448744"/>
            <a:ext cx="104304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57499"/>
                </a:solidFill>
              </a:rPr>
              <a:t>Control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75572DD-BAF2-4C69-1955-44877C0D3B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0343" y="10396111"/>
            <a:ext cx="1885637" cy="1006406"/>
          </a:xfrm>
          <a:prstGeom prst="rect">
            <a:avLst/>
          </a:prstGeom>
          <a:ln>
            <a:solidFill>
              <a:srgbClr val="6D3991"/>
            </a:solidFill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69C0343-CC88-AC51-BFB9-F59E49AA98DE}"/>
              </a:ext>
            </a:extLst>
          </p:cNvPr>
          <p:cNvSpPr txBox="1"/>
          <p:nvPr/>
        </p:nvSpPr>
        <p:spPr>
          <a:xfrm>
            <a:off x="9233267" y="10673466"/>
            <a:ext cx="8503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D3991"/>
                </a:solidFill>
              </a:rPr>
              <a:t>Pert. 2</a:t>
            </a:r>
            <a:endParaRPr lang="en-US" sz="2000" b="1" dirty="0">
              <a:solidFill>
                <a:srgbClr val="6D3991"/>
              </a:solidFill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932F7F7-E92C-D466-6089-281E60121D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0798" y="10443038"/>
            <a:ext cx="1893317" cy="1053357"/>
          </a:xfrm>
          <a:prstGeom prst="rect">
            <a:avLst/>
          </a:prstGeom>
          <a:ln>
            <a:solidFill>
              <a:srgbClr val="457499"/>
            </a:solidFill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1CB0FF0-F012-0C9A-30EF-BE80C478F89B}"/>
              </a:ext>
            </a:extLst>
          </p:cNvPr>
          <p:cNvSpPr txBox="1"/>
          <p:nvPr/>
        </p:nvSpPr>
        <p:spPr>
          <a:xfrm>
            <a:off x="4968445" y="10750067"/>
            <a:ext cx="10604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57499"/>
                </a:solidFill>
              </a:rPr>
              <a:t>Pert. 2</a:t>
            </a:r>
            <a:endParaRPr lang="en-US" sz="2000" b="1" dirty="0">
              <a:solidFill>
                <a:srgbClr val="4574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59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10213</TotalTime>
  <Words>81</Words>
  <Application>Microsoft Macintosh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Tianyu Zhang</dc:creator>
  <cp:lastModifiedBy>Tianyu Zhang</cp:lastModifiedBy>
  <cp:revision>48</cp:revision>
  <dcterms:created xsi:type="dcterms:W3CDTF">2024-06-24T20:16:04Z</dcterms:created>
  <dcterms:modified xsi:type="dcterms:W3CDTF">2025-09-11T20:47:54Z</dcterms:modified>
</cp:coreProperties>
</file>