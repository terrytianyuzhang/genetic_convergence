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61" r:id="rId4"/>
    <p:sldId id="262" r:id="rId5"/>
    <p:sldId id="263" r:id="rId6"/>
    <p:sldId id="264" r:id="rId7"/>
    <p:sldId id="301" r:id="rId8"/>
    <p:sldId id="302" r:id="rId9"/>
    <p:sldId id="318" r:id="rId10"/>
    <p:sldId id="269" r:id="rId11"/>
    <p:sldId id="313" r:id="rId12"/>
    <p:sldId id="305" r:id="rId13"/>
    <p:sldId id="312" r:id="rId14"/>
    <p:sldId id="321" r:id="rId15"/>
    <p:sldId id="306" r:id="rId16"/>
    <p:sldId id="268" r:id="rId17"/>
    <p:sldId id="295" r:id="rId18"/>
    <p:sldId id="315" r:id="rId19"/>
    <p:sldId id="310" r:id="rId20"/>
    <p:sldId id="320" r:id="rId21"/>
    <p:sldId id="319" r:id="rId22"/>
    <p:sldId id="308" r:id="rId23"/>
    <p:sldId id="316" r:id="rId24"/>
    <p:sldId id="322" r:id="rId2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84CD"/>
    <a:srgbClr val="A4C0AD"/>
    <a:srgbClr val="C51130"/>
    <a:srgbClr val="E7A419"/>
    <a:srgbClr val="EFA8AD"/>
    <a:srgbClr val="E4177D"/>
    <a:srgbClr val="E93F8F"/>
    <a:srgbClr val="44B9A8"/>
    <a:srgbClr val="44241F"/>
    <a:srgbClr val="3253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84"/>
    <p:restoredTop sz="77312"/>
  </p:normalViewPr>
  <p:slideViewPr>
    <p:cSldViewPr snapToGrid="0">
      <p:cViewPr varScale="1">
        <p:scale>
          <a:sx n="46" d="100"/>
          <a:sy n="46" d="100"/>
        </p:scale>
        <p:origin x="12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121"/>
          <p:cNvSpPr>
            <a:spLocks noGrp="1" noRot="1" noChangeAspect="1"/>
          </p:cNvSpPr>
          <p:nvPr>
            <p:ph type="sldImg"/>
          </p:nvPr>
        </p:nvSpPr>
        <p:spPr>
          <a:xfrm>
            <a:off x="381000" y="685800"/>
            <a:ext cx="6096000" cy="3429000"/>
          </a:xfrm>
          <a:prstGeom prst="rect">
            <a:avLst/>
          </a:prstGeom>
        </p:spPr>
        <p:txBody>
          <a:bodyPr/>
          <a:lstStyle/>
          <a:p>
            <a:endParaRPr/>
          </a:p>
        </p:txBody>
      </p:sp>
      <p:sp>
        <p:nvSpPr>
          <p:cNvPr id="122" name="Shape 122"/>
          <p:cNvSpPr>
            <a:spLocks noGrp="1"/>
          </p:cNvSpPr>
          <p:nvPr>
            <p:ph type="body" sz="quarter" idx="1"/>
          </p:nvPr>
        </p:nvSpPr>
        <p:spPr>
          <a:prstGeom prst="rect">
            <a:avLst/>
          </a:prstGeom>
        </p:spPr>
        <p:txBody>
          <a:bodyPr/>
          <a:lstStyle/>
          <a:p>
            <a:r>
              <a:rPr lang="en-US" dirty="0"/>
              <a:t>Today we are going to talk about a statistical framework on single-cell differential expression analysis</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noRot="1" noChangeAspect="1"/>
          </p:cNvSpPr>
          <p:nvPr>
            <p:ph type="sldImg"/>
          </p:nvPr>
        </p:nvSpPr>
        <p:spPr>
          <a:xfrm>
            <a:off x="381000" y="685800"/>
            <a:ext cx="6096000" cy="3429000"/>
          </a:xfrm>
          <a:prstGeom prst="rect">
            <a:avLst/>
          </a:prstGeom>
        </p:spPr>
        <p:txBody>
          <a:bodyPr/>
          <a:lstStyle/>
          <a:p>
            <a:endParaRPr/>
          </a:p>
        </p:txBody>
      </p:sp>
      <p:sp>
        <p:nvSpPr>
          <p:cNvPr id="130" name="Shape 130"/>
          <p:cNvSpPr>
            <a:spLocks noGrp="1"/>
          </p:cNvSpPr>
          <p:nvPr>
            <p:ph type="body" sz="quarter" idx="1"/>
          </p:nvPr>
        </p:nvSpPr>
        <p:spPr>
          <a:prstGeom prst="rect">
            <a:avLst/>
          </a:prstGeom>
        </p:spPr>
        <p:txBody>
          <a:bodyPr/>
          <a:lstStyle/>
          <a:p>
            <a:r>
              <a:rPr dirty="0"/>
              <a:t>A joint work with Jing and Kathryn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noRot="1" noChangeAspect="1"/>
          </p:cNvSpPr>
          <p:nvPr>
            <p:ph type="sldImg"/>
          </p:nvPr>
        </p:nvSpPr>
        <p:spPr>
          <a:xfrm>
            <a:off x="381000" y="685800"/>
            <a:ext cx="6096000" cy="3429000"/>
          </a:xfrm>
          <a:prstGeom prst="rect">
            <a:avLst/>
          </a:prstGeom>
        </p:spPr>
        <p:txBody>
          <a:bodyPr/>
          <a:lstStyle/>
          <a:p>
            <a:endParaRPr/>
          </a:p>
        </p:txBody>
      </p:sp>
      <p:sp>
        <p:nvSpPr>
          <p:cNvPr id="177" name="Shape 177"/>
          <p:cNvSpPr>
            <a:spLocks noGrp="1"/>
          </p:cNvSpPr>
          <p:nvPr>
            <p:ph type="body" sz="quarter" idx="1"/>
          </p:nvPr>
        </p:nvSpPr>
        <p:spPr>
          <a:prstGeom prst="rect">
            <a:avLst/>
          </a:prstGeom>
        </p:spPr>
        <p:txBody>
          <a:bodyPr/>
          <a:lstStyle/>
          <a:p>
            <a:r>
              <a:rPr lang="en-US" dirty="0"/>
              <a:t>Consider a typical CRISPR gene editing experiment, collect control cells and treatment cells.</a:t>
            </a:r>
          </a:p>
          <a:p>
            <a:endParaRPr lang="en-US" dirty="0"/>
          </a:p>
          <a:p>
            <a:r>
              <a:rPr lang="en-US" dirty="0"/>
              <a:t>Interested in the difference between their avg expression profiles. So we know what treatment does and infer gene function.</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Mathematically, formulate this simple question as a high-dim mean comp problem.</a:t>
            </a:r>
          </a:p>
          <a:p>
            <a:endParaRPr lang="en-US" dirty="0"/>
          </a:p>
          <a:p>
            <a:r>
              <a:rPr lang="en-US" dirty="0"/>
              <a:t> </a:t>
            </a:r>
          </a:p>
          <a:p>
            <a:r>
              <a:rPr lang="en-US" dirty="0"/>
              <a:t>X control, Z case.</a:t>
            </a:r>
          </a:p>
          <a:p>
            <a:endParaRPr lang="en-US" dirty="0"/>
          </a:p>
          <a:p>
            <a:r>
              <a:rPr lang="en-US" dirty="0"/>
              <a:t>Test if these two </a:t>
            </a:r>
            <a:r>
              <a:rPr lang="en-US" dirty="0" err="1"/>
              <a:t>rv</a:t>
            </a:r>
            <a:r>
              <a:rPr lang="en-US" dirty="0"/>
              <a:t> having same mean. </a:t>
            </a:r>
          </a:p>
          <a:p>
            <a:endParaRPr lang="en-US" dirty="0"/>
          </a:p>
          <a:p>
            <a:r>
              <a:rPr lang="en-US" dirty="0"/>
              <a:t>The dimension, p , is too large. Need to handle signal and noise properly to avoid false positive and get some power.</a:t>
            </a:r>
          </a:p>
        </p:txBody>
      </p:sp>
    </p:spTree>
    <p:extLst>
      <p:ext uri="{BB962C8B-B14F-4D97-AF65-F5344CB8AC3E}">
        <p14:creationId xmlns:p14="http://schemas.microsoft.com/office/powerpoint/2010/main" val="1403295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Shape 208"/>
          <p:cNvSpPr>
            <a:spLocks noGrp="1" noRot="1" noChangeAspect="1"/>
          </p:cNvSpPr>
          <p:nvPr>
            <p:ph type="sldImg"/>
          </p:nvPr>
        </p:nvSpPr>
        <p:spPr>
          <a:xfrm>
            <a:off x="381000" y="685800"/>
            <a:ext cx="6096000" cy="3429000"/>
          </a:xfrm>
          <a:prstGeom prst="rect">
            <a:avLst/>
          </a:prstGeom>
        </p:spPr>
        <p:txBody>
          <a:bodyPr/>
          <a:lstStyle/>
          <a:p>
            <a:endParaRPr/>
          </a:p>
        </p:txBody>
      </p:sp>
      <p:sp>
        <p:nvSpPr>
          <p:cNvPr id="209" name="Shape 209"/>
          <p:cNvSpPr>
            <a:spLocks noGrp="1"/>
          </p:cNvSpPr>
          <p:nvPr>
            <p:ph type="body" sz="quarter" idx="1"/>
          </p:nvPr>
        </p:nvSpPr>
        <p:spPr>
          <a:prstGeom prst="rect">
            <a:avLst/>
          </a:prstGeom>
        </p:spPr>
        <p:txBody>
          <a:bodyPr/>
          <a:lstStyle/>
          <a:p>
            <a:r>
              <a:rPr lang="en-US" dirty="0"/>
              <a:t>Mean comparison problem one of the most basic, univariate to high-dim has been extensively studied in stat</a:t>
            </a:r>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Meanwhile scientists are developing their own methods to tackle this basic stat problem. </a:t>
            </a:r>
          </a:p>
          <a:p>
            <a:r>
              <a:rPr lang="en-US" dirty="0"/>
              <a:t>To me one obvious reason, statistical procedures mentioned above focuses on getting a more powerful test but offer little beyond p-value. More interpretable information. A given CRISPR mutation has more systematic impact on the cell. Pathway, genes related to a function.</a:t>
            </a:r>
          </a:p>
        </p:txBody>
      </p:sp>
    </p:spTree>
    <p:extLst>
      <p:ext uri="{BB962C8B-B14F-4D97-AF65-F5344CB8AC3E}">
        <p14:creationId xmlns:p14="http://schemas.microsoft.com/office/powerpoint/2010/main" val="3478771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Genes having related functions usually have correlated expression level.</a:t>
            </a:r>
          </a:p>
          <a:p>
            <a:endParaRPr lang="en-US" dirty="0"/>
          </a:p>
          <a:p>
            <a:r>
              <a:rPr lang="en-US" dirty="0"/>
              <a:t>Heatmap Pearson correlation between genes. White means no correlation, colored means positive or negative correlation. </a:t>
            </a:r>
          </a:p>
          <a:p>
            <a:r>
              <a:rPr lang="en-US" dirty="0"/>
              <a:t>Here some randomly chosen genes. Correlation between certain genes more visible.  PCA of the data and pick genes with ”large” loadings. PC1 support genes. They are more correlated. </a:t>
            </a:r>
          </a:p>
          <a:p>
            <a:endParaRPr lang="en-US" dirty="0"/>
          </a:p>
          <a:p>
            <a:r>
              <a:rPr lang="en-US" dirty="0"/>
              <a:t>PCA is one of the ways to find correlated genes and hopefully they have similar functions.</a:t>
            </a:r>
          </a:p>
        </p:txBody>
      </p:sp>
    </p:spTree>
    <p:extLst>
      <p:ext uri="{BB962C8B-B14F-4D97-AF65-F5344CB8AC3E}">
        <p14:creationId xmlns:p14="http://schemas.microsoft.com/office/powerpoint/2010/main" val="3882422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Also the PC score plots. Project the cell profile onto PC directions and visualize the high-dim distribution.</a:t>
            </a:r>
          </a:p>
          <a:p>
            <a:endParaRPr lang="en-US" dirty="0"/>
          </a:p>
          <a:p>
            <a:r>
              <a:rPr lang="en-US" dirty="0"/>
              <a:t>I plot PC4 in the y-axis because there is no difference on PC2,PC3.</a:t>
            </a:r>
          </a:p>
          <a:p>
            <a:endParaRPr lang="en-US" dirty="0"/>
          </a:p>
          <a:p>
            <a:r>
              <a:rPr lang="en-US" dirty="0"/>
              <a:t>Tackling high-dimensional comparison leveraging correlation information that one-gene-at-a-time analysis because we can test on the gene-module level. </a:t>
            </a:r>
            <a:r>
              <a:rPr lang="en-US" dirty="0" err="1"/>
              <a:t>Stablize</a:t>
            </a:r>
            <a:r>
              <a:rPr lang="en-US" dirty="0"/>
              <a:t> the noise and have interpretation.</a:t>
            </a:r>
          </a:p>
        </p:txBody>
      </p:sp>
    </p:spTree>
    <p:extLst>
      <p:ext uri="{BB962C8B-B14F-4D97-AF65-F5344CB8AC3E}">
        <p14:creationId xmlns:p14="http://schemas.microsoft.com/office/powerpoint/2010/main" val="1949210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are going to propose a frequentist comparison framework that is also very </a:t>
            </a:r>
            <a:r>
              <a:rPr lang="en-US" dirty="0" err="1"/>
              <a:t>practiaclly</a:t>
            </a:r>
            <a:r>
              <a:rPr lang="en-US" dirty="0"/>
              <a:t> feasible. And sometimes very straightforward.</a:t>
            </a:r>
          </a:p>
        </p:txBody>
      </p:sp>
    </p:spTree>
    <p:extLst>
      <p:ext uri="{BB962C8B-B14F-4D97-AF65-F5344CB8AC3E}">
        <p14:creationId xmlns:p14="http://schemas.microsoft.com/office/powerpoint/2010/main" val="2256510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Treatment and control cells. Split into two parts, 20% - 80%. Use 20 to calculate the mean, 80% to calculate the PC1. Projection and calculate a test statistics. When there is no diff, we expect this inner product to be small.</a:t>
            </a:r>
          </a:p>
          <a:p>
            <a:endParaRPr lang="en-US" dirty="0"/>
          </a:p>
          <a:p>
            <a:r>
              <a:rPr lang="en-US" dirty="0"/>
              <a:t>Swap  and aggregate</a:t>
            </a:r>
          </a:p>
        </p:txBody>
      </p:sp>
    </p:spTree>
    <p:extLst>
      <p:ext uri="{BB962C8B-B14F-4D97-AF65-F5344CB8AC3E}">
        <p14:creationId xmlns:p14="http://schemas.microsoft.com/office/powerpoint/2010/main" val="1278957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state an informal version of our result.</a:t>
            </a:r>
          </a:p>
          <a:p>
            <a:endParaRPr lang="en-US" dirty="0"/>
          </a:p>
          <a:p>
            <a:r>
              <a:rPr lang="en-US" dirty="0"/>
              <a:t>(read)</a:t>
            </a:r>
          </a:p>
          <a:p>
            <a:endParaRPr lang="en-US" dirty="0"/>
          </a:p>
          <a:p>
            <a:r>
              <a:rPr lang="en-US" dirty="0"/>
              <a:t>Means the estimate does not include genes that do not belong to true PC1. This can be achieved using sparse inducing PCA see very soon.</a:t>
            </a:r>
          </a:p>
          <a:p>
            <a:endParaRPr lang="en-US" dirty="0"/>
          </a:p>
          <a:p>
            <a:r>
              <a:rPr lang="en-US" dirty="0"/>
              <a:t>Under these two conditions we will have an approximately normal test statistics.</a:t>
            </a:r>
          </a:p>
          <a:p>
            <a:endParaRPr lang="en-US" dirty="0"/>
          </a:p>
          <a:p>
            <a:r>
              <a:rPr lang="en-US" dirty="0"/>
              <a:t>The most important technical detail and what makes this procedure relevant in practice is we can omit (read) Because it is not an easy task compared with mean variability. Somehow we can omit it.</a:t>
            </a:r>
          </a:p>
          <a:p>
            <a:endParaRPr lang="en-US" dirty="0"/>
          </a:p>
          <a:p>
            <a:r>
              <a:rPr lang="en-US" dirty="0"/>
              <a:t>Wasn't expected, too good to be true.</a:t>
            </a:r>
          </a:p>
        </p:txBody>
      </p:sp>
    </p:spTree>
    <p:extLst>
      <p:ext uri="{BB962C8B-B14F-4D97-AF65-F5344CB8AC3E}">
        <p14:creationId xmlns:p14="http://schemas.microsoft.com/office/powerpoint/2010/main" val="2993094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talked about support conservative. Little bit more details regarding estimating PCA.</a:t>
            </a:r>
          </a:p>
          <a:p>
            <a:endParaRPr lang="en-US" dirty="0"/>
          </a:p>
          <a:p>
            <a:r>
              <a:rPr lang="en-US" dirty="0"/>
              <a:t>We have the standard PCA. Plot the loading of genes in the PC1. Few genes have large loading and many have a small but non-zero loadings. This will go on, we have 500 here. Check the inner product, 0.85. Pretty good.</a:t>
            </a:r>
          </a:p>
          <a:p>
            <a:endParaRPr lang="en-US" dirty="0"/>
          </a:p>
          <a:p>
            <a:r>
              <a:rPr lang="en-US" dirty="0"/>
              <a:t>In many settings relevant to high-dim data analysis, we can also sparse. Properly shrink, cv determine threshold,  loading decays to zero much faster. Better estimate.</a:t>
            </a:r>
          </a:p>
        </p:txBody>
      </p:sp>
    </p:spTree>
    <p:extLst>
      <p:ext uri="{BB962C8B-B14F-4D97-AF65-F5344CB8AC3E}">
        <p14:creationId xmlns:p14="http://schemas.microsoft.com/office/powerpoint/2010/main" val="2340794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procedure can be generalized to PC-k</a:t>
            </a:r>
          </a:p>
        </p:txBody>
      </p:sp>
    </p:spTree>
    <p:extLst>
      <p:ext uri="{BB962C8B-B14F-4D97-AF65-F5344CB8AC3E}">
        <p14:creationId xmlns:p14="http://schemas.microsoft.com/office/powerpoint/2010/main" val="4214740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Go back … assess what we have established</a:t>
            </a:r>
          </a:p>
        </p:txBody>
      </p:sp>
    </p:spTree>
    <p:extLst>
      <p:ext uri="{BB962C8B-B14F-4D97-AF65-F5344CB8AC3E}">
        <p14:creationId xmlns:p14="http://schemas.microsoft.com/office/powerpoint/2010/main" val="3891106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proposed a procedure that can be used to test…</a:t>
            </a:r>
          </a:p>
          <a:p>
            <a:r>
              <a:rPr lang="en-US" dirty="0"/>
              <a:t>But it is different from the statement that the mean profiles having same projection score.</a:t>
            </a:r>
          </a:p>
          <a:p>
            <a:r>
              <a:rPr lang="en-US" dirty="0"/>
              <a:t>One implies the other but not the other way.</a:t>
            </a:r>
          </a:p>
        </p:txBody>
      </p:sp>
    </p:spTree>
    <p:extLst>
      <p:ext uri="{BB962C8B-B14F-4D97-AF65-F5344CB8AC3E}">
        <p14:creationId xmlns:p14="http://schemas.microsoft.com/office/powerpoint/2010/main" val="2477628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fact, our estimate is very close to normal 0,1 but </a:t>
            </a:r>
            <a:r>
              <a:rPr lang="en-US" dirty="0" err="1"/>
              <a:t>overdispersed</a:t>
            </a:r>
            <a:r>
              <a:rPr lang="en-US" dirty="0"/>
              <a:t> under the second scenario.</a:t>
            </a:r>
          </a:p>
          <a:p>
            <a:endParaRPr lang="en-US" dirty="0"/>
          </a:p>
          <a:p>
            <a:r>
              <a:rPr lang="en-US" dirty="0"/>
              <a:t>Although these two settings look very alike, one need to determine which one they are actually interested in. </a:t>
            </a:r>
          </a:p>
        </p:txBody>
      </p:sp>
    </p:spTree>
    <p:extLst>
      <p:ext uri="{BB962C8B-B14F-4D97-AF65-F5344CB8AC3E}">
        <p14:creationId xmlns:p14="http://schemas.microsoft.com/office/powerpoint/2010/main" val="1813566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fact, it is a much harder task to determine if the projection scores are identical.</a:t>
            </a:r>
          </a:p>
          <a:p>
            <a:endParaRPr lang="en-US" dirty="0"/>
          </a:p>
          <a:p>
            <a:r>
              <a:rPr lang="en-US" dirty="0"/>
              <a:t>Problem comes from ……..</a:t>
            </a:r>
          </a:p>
          <a:p>
            <a:endParaRPr lang="en-US" dirty="0"/>
          </a:p>
          <a:p>
            <a:r>
              <a:rPr lang="en-US" dirty="0"/>
              <a:t>We propose a ………… of the projection score difference. I list all the names in case you have heard one or  some of them that appear in the literature. </a:t>
            </a:r>
          </a:p>
        </p:txBody>
      </p:sp>
    </p:spTree>
    <p:extLst>
      <p:ext uri="{BB962C8B-B14F-4D97-AF65-F5344CB8AC3E}">
        <p14:creationId xmlns:p14="http://schemas.microsoft.com/office/powerpoint/2010/main" val="12796497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90495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far we have discussed PC projection that explain most variation. Many settings the only thing we can rely on. Emphasize gene-gene correlation.</a:t>
            </a:r>
          </a:p>
          <a:p>
            <a:endParaRPr lang="en-US" dirty="0"/>
          </a:p>
          <a:p>
            <a:r>
              <a:rPr lang="en-US" dirty="0"/>
              <a:t>But in a treatment control experiment we can also leverage group label of the cell. Mathematically the linear discriminant direction is different from PC direction.</a:t>
            </a:r>
          </a:p>
        </p:txBody>
      </p:sp>
    </p:spTree>
    <p:extLst>
      <p:ext uri="{BB962C8B-B14F-4D97-AF65-F5344CB8AC3E}">
        <p14:creationId xmlns:p14="http://schemas.microsoft.com/office/powerpoint/2010/main" val="7161579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Rememeber</a:t>
            </a:r>
            <a:r>
              <a:rPr lang="en-US" dirty="0"/>
              <a:t> this is our sample splitting scheme from PC1 projection</a:t>
            </a:r>
          </a:p>
        </p:txBody>
      </p:sp>
    </p:spTree>
    <p:extLst>
      <p:ext uri="{BB962C8B-B14F-4D97-AF65-F5344CB8AC3E}">
        <p14:creationId xmlns:p14="http://schemas.microsoft.com/office/powerpoint/2010/main" val="6710583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we can instead train a classifier rather than estimating the PC direction.</a:t>
            </a:r>
          </a:p>
          <a:p>
            <a:endParaRPr lang="en-US" dirty="0"/>
          </a:p>
          <a:p>
            <a:r>
              <a:rPr lang="en-US" dirty="0"/>
              <a:t>This can be done fitting a classification model, using gene vector to predict which group the cells come from. After getting the classifier direction beta, project onto that direction instead.</a:t>
            </a:r>
          </a:p>
        </p:txBody>
      </p:sp>
    </p:spTree>
    <p:extLst>
      <p:ext uri="{BB962C8B-B14F-4D97-AF65-F5344CB8AC3E}">
        <p14:creationId xmlns:p14="http://schemas.microsoft.com/office/powerpoint/2010/main" val="2858478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(read)</a:t>
            </a:r>
          </a:p>
          <a:p>
            <a:endParaRPr lang="en-US" dirty="0"/>
          </a:p>
          <a:p>
            <a:r>
              <a:rPr lang="en-US" dirty="0"/>
              <a:t>The projection direction is PC1 direction when there is no difference. It gradually shift to the discriminant direction where …..</a:t>
            </a:r>
          </a:p>
          <a:p>
            <a:endParaRPr lang="en-US" dirty="0"/>
          </a:p>
          <a:p>
            <a:r>
              <a:rPr lang="en-US" dirty="0"/>
              <a:t>We can not always project onto the discriminant direction because it is not defined.</a:t>
            </a:r>
          </a:p>
          <a:p>
            <a:endParaRPr lang="en-US" dirty="0"/>
          </a:p>
          <a:p>
            <a:r>
              <a:rPr lang="en-US" dirty="0"/>
              <a:t>JOINTLY GIVE US POWER, </a:t>
            </a:r>
          </a:p>
        </p:txBody>
      </p:sp>
    </p:spTree>
    <p:extLst>
      <p:ext uri="{BB962C8B-B14F-4D97-AF65-F5344CB8AC3E}">
        <p14:creationId xmlns:p14="http://schemas.microsoft.com/office/powerpoint/2010/main" val="810033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Apply different methods to the same data, depending on the purpose. We have p-value for each task.</a:t>
            </a:r>
          </a:p>
        </p:txBody>
      </p:sp>
    </p:spTree>
    <p:extLst>
      <p:ext uri="{BB962C8B-B14F-4D97-AF65-F5344CB8AC3E}">
        <p14:creationId xmlns:p14="http://schemas.microsoft.com/office/powerpoint/2010/main" val="754007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778000" y="2298700"/>
            <a:ext cx="20828000" cy="4648200"/>
          </a:xfrm>
          <a:prstGeom prst="rect">
            <a:avLst/>
          </a:prstGeom>
        </p:spPr>
        <p:txBody>
          <a:bodyPr anchor="b"/>
          <a:lstStyle/>
          <a:p>
            <a:r>
              <a:t>Title Text</a:t>
            </a:r>
          </a:p>
        </p:txBody>
      </p:sp>
      <p:sp>
        <p:nvSpPr>
          <p:cNvPr id="12" name="Body Level One…"/>
          <p:cNvSpPr txBox="1">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View of beach and sea from a grassy sand dune"/>
          <p:cNvSpPr>
            <a:spLocks noGrp="1"/>
          </p:cNvSpPr>
          <p:nvPr>
            <p:ph type="pic" idx="21"/>
          </p:nvPr>
        </p:nvSpPr>
        <p:spPr>
          <a:xfrm>
            <a:off x="3125968" y="-393700"/>
            <a:ext cx="18135601" cy="12090400"/>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635000" y="9512300"/>
            <a:ext cx="23114000" cy="2006600"/>
          </a:xfrm>
          <a:prstGeom prst="rect">
            <a:avLst/>
          </a:prstGeom>
        </p:spPr>
        <p:txBody>
          <a:bodyPr anchor="b"/>
          <a:lstStyle/>
          <a:p>
            <a:r>
              <a:t>Title Text</a:t>
            </a:r>
          </a:p>
        </p:txBody>
      </p:sp>
      <p:sp>
        <p:nvSpPr>
          <p:cNvPr id="22" name="Body Level One…"/>
          <p:cNvSpPr txBox="1">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778000" y="4533900"/>
            <a:ext cx="20828000" cy="46482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Heron flying low over a beach with a short fence in the foreground"/>
          <p:cNvSpPr>
            <a:spLocks noGrp="1"/>
          </p:cNvSpPr>
          <p:nvPr>
            <p:ph type="pic" sz="half" idx="21"/>
          </p:nvPr>
        </p:nvSpPr>
        <p:spPr>
          <a:xfrm>
            <a:off x="12827000" y="952500"/>
            <a:ext cx="11468100" cy="11468100"/>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651000" y="952500"/>
            <a:ext cx="10223500" cy="5549900"/>
          </a:xfrm>
          <a:prstGeom prst="rect">
            <a:avLst/>
          </a:prstGeom>
        </p:spPr>
        <p:txBody>
          <a:bodyPr anchor="b"/>
          <a:lstStyle>
            <a:lvl1pPr>
              <a:defRPr sz="8400">
                <a:solidFill>
                  <a:srgbClr val="B42B36"/>
                </a:solidFill>
              </a:defRPr>
            </a:lvl1pPr>
          </a:lstStyle>
          <a:p>
            <a:r>
              <a:t>Title Text</a:t>
            </a:r>
          </a:p>
        </p:txBody>
      </p:sp>
      <p:sp>
        <p:nvSpPr>
          <p:cNvPr id="40" name="Body Level One…"/>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lvl1pPr>
              <a:defRPr sz="4800"/>
            </a:lvl1pPr>
            <a:lvl2pPr>
              <a:defRPr sz="4800"/>
            </a:lvl2pPr>
            <a:lvl3pPr>
              <a:defRPr sz="4800"/>
            </a:lvl3pPr>
            <a:lvl4pPr>
              <a:defRPr sz="4800"/>
            </a:lvl4pPr>
            <a:lvl5pPr>
              <a:defRPr sz="48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andy path between two hills leading to the ocean"/>
          <p:cNvSpPr>
            <a:spLocks noGrp="1"/>
          </p:cNvSpPr>
          <p:nvPr>
            <p:ph type="pic" sz="half" idx="21"/>
          </p:nvPr>
        </p:nvSpPr>
        <p:spPr>
          <a:xfrm>
            <a:off x="10960100" y="3149600"/>
            <a:ext cx="13944600" cy="92964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andy path between two hills leading to the ocean"/>
          <p:cNvSpPr>
            <a:spLocks noGrp="1"/>
          </p:cNvSpPr>
          <p:nvPr>
            <p:ph type="pic" sz="quarter" idx="21"/>
          </p:nvPr>
        </p:nvSpPr>
        <p:spPr>
          <a:xfrm>
            <a:off x="15300325" y="7048500"/>
            <a:ext cx="8324850" cy="5549900"/>
          </a:xfrm>
          <a:prstGeom prst="rect">
            <a:avLst/>
          </a:prstGeom>
        </p:spPr>
        <p:txBody>
          <a:bodyPr lIns="91439" tIns="45719" rIns="91439" bIns="45719" anchor="t">
            <a:noAutofit/>
          </a:bodyPr>
          <a:lstStyle/>
          <a:p>
            <a:endParaRPr/>
          </a:p>
        </p:txBody>
      </p:sp>
      <p:sp>
        <p:nvSpPr>
          <p:cNvPr id="84" name="Heron flying low over a beach with a short fence in the foreground"/>
          <p:cNvSpPr>
            <a:spLocks noGrp="1"/>
          </p:cNvSpPr>
          <p:nvPr>
            <p:ph type="pic" sz="quarter" idx="22"/>
          </p:nvPr>
        </p:nvSpPr>
        <p:spPr>
          <a:xfrm>
            <a:off x="15760700" y="863600"/>
            <a:ext cx="7404100" cy="7404100"/>
          </a:xfrm>
          <a:prstGeom prst="rect">
            <a:avLst/>
          </a:prstGeom>
        </p:spPr>
        <p:txBody>
          <a:bodyPr lIns="91439" tIns="45719" rIns="91439" bIns="45719" anchor="t">
            <a:noAutofit/>
          </a:bodyPr>
          <a:lstStyle/>
          <a:p>
            <a:endParaRPr/>
          </a:p>
        </p:txBody>
      </p:sp>
      <p:sp>
        <p:nvSpPr>
          <p:cNvPr id="85" name="View of beach and sea from a grassy sand dune"/>
          <p:cNvSpPr>
            <a:spLocks noGrp="1"/>
          </p:cNvSpPr>
          <p:nvPr>
            <p:ph type="pic" idx="23"/>
          </p:nvPr>
        </p:nvSpPr>
        <p:spPr>
          <a:xfrm>
            <a:off x="-990600" y="1130300"/>
            <a:ext cx="17202150" cy="11468100"/>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21"/>
          </p:nvPr>
        </p:nvSpPr>
        <p:spPr>
          <a:xfrm>
            <a:off x="2387600" y="8953500"/>
            <a:ext cx="19621500" cy="585521"/>
          </a:xfrm>
          <a:prstGeom prst="rect">
            <a:avLst/>
          </a:prstGeom>
        </p:spPr>
        <p:txBody>
          <a:bodyPr anchor="t">
            <a:spAutoFit/>
          </a:bodyPr>
          <a:lstStyle>
            <a:lvl1pPr marL="0" indent="0" algn="ctr">
              <a:spcBef>
                <a:spcPts val="0"/>
              </a:spcBef>
              <a:buSzTx/>
              <a:buNone/>
              <a:defRPr sz="3200" i="1"/>
            </a:lvl1pPr>
          </a:lstStyle>
          <a:p>
            <a:r>
              <a:t>–Johnny Appleseed</a:t>
            </a:r>
          </a:p>
        </p:txBody>
      </p:sp>
      <p:sp>
        <p:nvSpPr>
          <p:cNvPr id="94" name="“Type a quote here.”"/>
          <p:cNvSpPr txBox="1">
            <a:spLocks noGrp="1"/>
          </p:cNvSpPr>
          <p:nvPr>
            <p:ph type="body" sz="quarter" idx="22"/>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View of beach and sea from a grassy sand dune"/>
          <p:cNvSpPr>
            <a:spLocks noGrp="1"/>
          </p:cNvSpPr>
          <p:nvPr>
            <p:ph type="pic" idx="21"/>
          </p:nvPr>
        </p:nvSpPr>
        <p:spPr>
          <a:xfrm>
            <a:off x="-50800" y="-1270000"/>
            <a:ext cx="24485600" cy="16323734"/>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hf hdr="0" ftr="0" dt="0"/>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1pPr>
      <a:lvl2pPr marL="0" marR="0" indent="457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2pPr>
      <a:lvl3pPr marL="0" marR="0" indent="914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3pPr>
      <a:lvl4pPr marL="0" marR="0" indent="1371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4pPr>
      <a:lvl5pPr marL="0" marR="0" indent="18288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5pPr>
      <a:lvl6pPr marL="0" marR="0" indent="22860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6pPr>
      <a:lvl7pPr marL="0" marR="0" indent="2743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7pPr>
      <a:lvl8pPr marL="0" marR="0" indent="3200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8pPr>
      <a:lvl9pPr marL="0" marR="0" indent="3657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1pPr>
      <a:lvl2pPr marL="127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2pPr>
      <a:lvl3pPr marL="190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emf"/><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4.emf"/><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emf"/><Relationship Id="rId2" Type="http://schemas.openxmlformats.org/officeDocument/2006/relationships/notesSlide" Target="../notesSlides/notesSlide10.xml"/><Relationship Id="rId16"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41.emf"/></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image" Target="../media/image21.png"/><Relationship Id="rId7" Type="http://schemas.openxmlformats.org/officeDocument/2006/relationships/image" Target="../media/image46.emf"/><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5.emf"/><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9.emf"/><Relationship Id="rId5" Type="http://schemas.openxmlformats.org/officeDocument/2006/relationships/image" Target="../media/image45.emf"/><Relationship Id="rId4" Type="http://schemas.openxmlformats.org/officeDocument/2006/relationships/image" Target="../media/image46.emf"/></Relationships>
</file>

<file path=ppt/slides/_rels/slide17.xml.rels><?xml version="1.0" encoding="UTF-8" standalone="yes"?>
<Relationships xmlns="http://schemas.openxmlformats.org/package/2006/relationships"><Relationship Id="rId3" Type="http://schemas.openxmlformats.org/officeDocument/2006/relationships/image" Target="../media/image50.emf"/><Relationship Id="rId7" Type="http://schemas.openxmlformats.org/officeDocument/2006/relationships/image" Target="../media/image54.emf"/><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57.png"/><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5.png"/><Relationship Id="rId3" Type="http://schemas.openxmlformats.org/officeDocument/2006/relationships/image" Target="../media/image29.png"/><Relationship Id="rId7" Type="http://schemas.openxmlformats.org/officeDocument/2006/relationships/image" Target="../media/image27.png"/><Relationship Id="rId12"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33.png"/><Relationship Id="rId5" Type="http://schemas.openxmlformats.org/officeDocument/2006/relationships/image" Target="../media/image26.png"/><Relationship Id="rId10" Type="http://schemas.openxmlformats.org/officeDocument/2006/relationships/image" Target="../media/image32.png"/><Relationship Id="rId4" Type="http://schemas.openxmlformats.org/officeDocument/2006/relationships/image" Target="../media/image25.png"/><Relationship Id="rId9" Type="http://schemas.openxmlformats.org/officeDocument/2006/relationships/image" Target="../media/image31.png"/><Relationship Id="rId14" Type="http://schemas.openxmlformats.org/officeDocument/2006/relationships/image" Target="../media/image39.emf"/></Relationships>
</file>

<file path=ppt/slides/_rels/slide21.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58.png"/><Relationship Id="rId3" Type="http://schemas.openxmlformats.org/officeDocument/2006/relationships/image" Target="../media/image29.png"/><Relationship Id="rId7" Type="http://schemas.openxmlformats.org/officeDocument/2006/relationships/image" Target="../media/image27.png"/><Relationship Id="rId12" Type="http://schemas.openxmlformats.org/officeDocument/2006/relationships/image" Target="../media/image34.png"/><Relationship Id="rId2" Type="http://schemas.openxmlformats.org/officeDocument/2006/relationships/notesSlide" Target="../notesSlides/notesSlide21.xml"/><Relationship Id="rId16" Type="http://schemas.openxmlformats.org/officeDocument/2006/relationships/image" Target="../media/image61.emf"/><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33.png"/><Relationship Id="rId5" Type="http://schemas.openxmlformats.org/officeDocument/2006/relationships/image" Target="../media/image26.png"/><Relationship Id="rId15" Type="http://schemas.openxmlformats.org/officeDocument/2006/relationships/image" Target="../media/image60.emf"/><Relationship Id="rId10" Type="http://schemas.openxmlformats.org/officeDocument/2006/relationships/image" Target="../media/image32.png"/><Relationship Id="rId4" Type="http://schemas.openxmlformats.org/officeDocument/2006/relationships/image" Target="../media/image25.png"/><Relationship Id="rId9" Type="http://schemas.openxmlformats.org/officeDocument/2006/relationships/image" Target="../media/image31.png"/><Relationship Id="rId14" Type="http://schemas.openxmlformats.org/officeDocument/2006/relationships/image" Target="../media/image59.png"/></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3.emf"/><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High-dimensional Mean Testing Problems in Single-Cell RNA sequencing Data"/>
          <p:cNvSpPr txBox="1">
            <a:spLocks noGrp="1"/>
          </p:cNvSpPr>
          <p:nvPr>
            <p:ph type="ctrTitle"/>
          </p:nvPr>
        </p:nvSpPr>
        <p:spPr>
          <a:xfrm>
            <a:off x="0" y="1903465"/>
            <a:ext cx="24434800" cy="4648201"/>
          </a:xfrm>
          <a:prstGeom prst="rect">
            <a:avLst/>
          </a:prstGeom>
        </p:spPr>
        <p:txBody>
          <a:bodyPr/>
          <a:lstStyle>
            <a:lvl1pPr>
              <a:defRPr sz="8100">
                <a:solidFill>
                  <a:srgbClr val="B42B36"/>
                </a:solidFill>
              </a:defRPr>
            </a:lvl1pPr>
          </a:lstStyle>
          <a:p>
            <a:r>
              <a:rPr lang="en-US" dirty="0"/>
              <a:t>Debiased Projected Two-Sample Comparison </a:t>
            </a:r>
            <a:br>
              <a:rPr lang="en-US" dirty="0"/>
            </a:br>
            <a:r>
              <a:rPr lang="en-US" dirty="0"/>
              <a:t>for Single-cell Differential Expression Analysis</a:t>
            </a:r>
            <a:endParaRPr dirty="0"/>
          </a:p>
        </p:txBody>
      </p:sp>
      <p:sp>
        <p:nvSpPr>
          <p:cNvPr id="120" name="Tianyu Zhang…"/>
          <p:cNvSpPr txBox="1">
            <a:spLocks noGrp="1"/>
          </p:cNvSpPr>
          <p:nvPr>
            <p:ph type="subTitle" sz="quarter" idx="1"/>
          </p:nvPr>
        </p:nvSpPr>
        <p:spPr>
          <a:xfrm>
            <a:off x="13659155" y="8985015"/>
            <a:ext cx="9006478" cy="3947615"/>
          </a:xfrm>
          <a:prstGeom prst="rect">
            <a:avLst/>
          </a:prstGeom>
        </p:spPr>
        <p:txBody>
          <a:bodyPr/>
          <a:lstStyle/>
          <a:p>
            <a:pPr defTabSz="759459">
              <a:defRPr sz="5428"/>
            </a:pPr>
            <a:r>
              <a:t>Tianyu Zhang</a:t>
            </a:r>
          </a:p>
          <a:p>
            <a:pPr defTabSz="759459">
              <a:defRPr sz="4968"/>
            </a:pPr>
            <a:endParaRPr/>
          </a:p>
          <a:p>
            <a:pPr defTabSz="759459">
              <a:defRPr sz="4968"/>
            </a:pPr>
            <a:r>
              <a:t>Statistics &amp; Data Science</a:t>
            </a:r>
          </a:p>
          <a:p>
            <a:pPr defTabSz="759459">
              <a:defRPr sz="4968"/>
            </a:pPr>
            <a:r>
              <a:t>Carnegie Mellon University</a:t>
            </a:r>
          </a:p>
        </p:txBody>
      </p:sp>
      <p:sp>
        <p:nvSpPr>
          <p:cNvPr id="2" name="Slide Number Placeholder 1">
            <a:extLst>
              <a:ext uri="{FF2B5EF4-FFF2-40B4-BE49-F238E27FC236}">
                <a16:creationId xmlns:a16="http://schemas.microsoft.com/office/drawing/2014/main" id="{C0CF5B5B-55BE-EFD8-860B-2D8BB7F92DA9}"/>
              </a:ext>
            </a:extLst>
          </p:cNvPr>
          <p:cNvSpPr>
            <a:spLocks noGrp="1"/>
          </p:cNvSpPr>
          <p:nvPr>
            <p:ph type="sldNum" sz="quarter" idx="2"/>
          </p:nvPr>
        </p:nvSpPr>
        <p:spPr/>
        <p:txBody>
          <a:bodyPr/>
          <a:lstStyle/>
          <a:p>
            <a:fld id="{86CB4B4D-7CA3-9044-876B-883B54F8677D}" type="slidenum">
              <a:rPr lang="en-US" smtClean="0"/>
              <a:t>1</a:t>
            </a:fld>
            <a:endParaRPr 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Joint work with"/>
          <p:cNvSpPr txBox="1"/>
          <p:nvPr/>
        </p:nvSpPr>
        <p:spPr>
          <a:xfrm>
            <a:off x="2468992" y="1493120"/>
            <a:ext cx="4257577"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lang="en-US" dirty="0"/>
              <a:t>a j</a:t>
            </a:r>
            <a:r>
              <a:rPr dirty="0"/>
              <a:t>oint work with</a:t>
            </a:r>
          </a:p>
        </p:txBody>
      </p:sp>
      <p:pic>
        <p:nvPicPr>
          <p:cNvPr id="125" name="web-photo-crop3.png" descr="web-photo-crop3.png"/>
          <p:cNvPicPr>
            <a:picLocks noChangeAspect="1"/>
          </p:cNvPicPr>
          <p:nvPr/>
        </p:nvPicPr>
        <p:blipFill>
          <a:blip r:embed="rId3"/>
          <a:stretch>
            <a:fillRect/>
          </a:stretch>
        </p:blipFill>
        <p:spPr>
          <a:xfrm>
            <a:off x="4605550" y="3603530"/>
            <a:ext cx="6508941" cy="6508940"/>
          </a:xfrm>
          <a:prstGeom prst="rect">
            <a:avLst/>
          </a:prstGeom>
          <a:ln w="12700">
            <a:miter lim="400000"/>
          </a:ln>
        </p:spPr>
      </p:pic>
      <p:pic>
        <p:nvPicPr>
          <p:cNvPr id="126" name="kathryn-roeder-800x800-min.jpg" descr="kathryn-roeder-800x800-min.jpg"/>
          <p:cNvPicPr>
            <a:picLocks noChangeAspect="1"/>
          </p:cNvPicPr>
          <p:nvPr/>
        </p:nvPicPr>
        <p:blipFill>
          <a:blip r:embed="rId4"/>
          <a:stretch>
            <a:fillRect/>
          </a:stretch>
        </p:blipFill>
        <p:spPr>
          <a:xfrm>
            <a:off x="13942703" y="3739841"/>
            <a:ext cx="6236318" cy="6236318"/>
          </a:xfrm>
          <a:prstGeom prst="rect">
            <a:avLst/>
          </a:prstGeom>
          <a:ln w="12700">
            <a:miter lim="400000"/>
          </a:ln>
        </p:spPr>
      </p:pic>
      <p:sp>
        <p:nvSpPr>
          <p:cNvPr id="127" name="Jing Lei"/>
          <p:cNvSpPr txBox="1"/>
          <p:nvPr/>
        </p:nvSpPr>
        <p:spPr>
          <a:xfrm>
            <a:off x="6556177" y="10767485"/>
            <a:ext cx="2051826" cy="721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Jing Lei</a:t>
            </a:r>
          </a:p>
        </p:txBody>
      </p:sp>
      <p:sp>
        <p:nvSpPr>
          <p:cNvPr id="128" name="Kathryn Roeder"/>
          <p:cNvSpPr txBox="1"/>
          <p:nvPr/>
        </p:nvSpPr>
        <p:spPr>
          <a:xfrm>
            <a:off x="15050827" y="10767485"/>
            <a:ext cx="4020071" cy="721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Kathryn Roeder</a:t>
            </a:r>
          </a:p>
        </p:txBody>
      </p:sp>
      <p:sp>
        <p:nvSpPr>
          <p:cNvPr id="2" name="Slide Number Placeholder 1">
            <a:extLst>
              <a:ext uri="{FF2B5EF4-FFF2-40B4-BE49-F238E27FC236}">
                <a16:creationId xmlns:a16="http://schemas.microsoft.com/office/drawing/2014/main" id="{556B6737-0C8A-A398-6685-F60AEE640644}"/>
              </a:ext>
            </a:extLst>
          </p:cNvPr>
          <p:cNvSpPr>
            <a:spLocks noGrp="1"/>
          </p:cNvSpPr>
          <p:nvPr>
            <p:ph type="sldNum" sz="quarter" idx="2"/>
          </p:nvPr>
        </p:nvSpPr>
        <p:spPr/>
        <p:txBody>
          <a:bodyPr/>
          <a:lstStyle/>
          <a:p>
            <a:fld id="{86CB4B4D-7CA3-9044-876B-883B54F8677D}" type="slidenum">
              <a:rPr lang="en-US" smtClean="0"/>
              <a:t>2</a:t>
            </a:fld>
            <a:endParaRPr lang="en-US"/>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 name="Image" descr="Image"/>
          <p:cNvPicPr>
            <a:picLocks noChangeAspect="1"/>
          </p:cNvPicPr>
          <p:nvPr/>
        </p:nvPicPr>
        <p:blipFill>
          <a:blip r:embed="rId3"/>
          <a:stretch>
            <a:fillRect/>
          </a:stretch>
        </p:blipFill>
        <p:spPr>
          <a:xfrm>
            <a:off x="3851889" y="3563103"/>
            <a:ext cx="7388921" cy="2588827"/>
          </a:xfrm>
          <a:prstGeom prst="rect">
            <a:avLst/>
          </a:prstGeom>
          <a:ln w="12700">
            <a:miter lim="400000"/>
          </a:ln>
        </p:spPr>
      </p:pic>
      <p:sp>
        <p:nvSpPr>
          <p:cNvPr id="161" name="Gene Editing/ CRISPR"/>
          <p:cNvSpPr txBox="1"/>
          <p:nvPr/>
        </p:nvSpPr>
        <p:spPr>
          <a:xfrm>
            <a:off x="1689177" y="926962"/>
            <a:ext cx="11538416"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Case-control </a:t>
            </a:r>
            <a:r>
              <a:rPr dirty="0"/>
              <a:t>/ CRISPR</a:t>
            </a:r>
          </a:p>
        </p:txBody>
      </p:sp>
      <p:sp>
        <p:nvSpPr>
          <p:cNvPr id="162" name="Control/…"/>
          <p:cNvSpPr txBox="1"/>
          <p:nvPr/>
        </p:nvSpPr>
        <p:spPr>
          <a:xfrm>
            <a:off x="264293" y="3859808"/>
            <a:ext cx="3667383" cy="19954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r>
              <a:rPr dirty="0"/>
              <a:t>Control/</a:t>
            </a:r>
          </a:p>
          <a:p>
            <a:r>
              <a:rPr dirty="0"/>
              <a:t>Non-targeting </a:t>
            </a:r>
          </a:p>
          <a:p>
            <a:r>
              <a:rPr dirty="0"/>
              <a:t>Cells </a:t>
            </a:r>
          </a:p>
        </p:txBody>
      </p:sp>
      <p:sp>
        <p:nvSpPr>
          <p:cNvPr id="163" name="Genes"/>
          <p:cNvSpPr txBox="1"/>
          <p:nvPr/>
        </p:nvSpPr>
        <p:spPr>
          <a:xfrm>
            <a:off x="6357629" y="2574612"/>
            <a:ext cx="1695667" cy="721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Genes</a:t>
            </a:r>
          </a:p>
        </p:txBody>
      </p:sp>
      <p:pic>
        <p:nvPicPr>
          <p:cNvPr id="164" name="Image" descr="Image"/>
          <p:cNvPicPr>
            <a:picLocks noChangeAspect="1"/>
          </p:cNvPicPr>
          <p:nvPr/>
        </p:nvPicPr>
        <p:blipFill>
          <a:blip r:embed="rId4"/>
          <a:stretch>
            <a:fillRect/>
          </a:stretch>
        </p:blipFill>
        <p:spPr>
          <a:xfrm>
            <a:off x="13071836" y="3841486"/>
            <a:ext cx="7380487" cy="2032061"/>
          </a:xfrm>
          <a:prstGeom prst="rect">
            <a:avLst/>
          </a:prstGeom>
          <a:ln w="12700">
            <a:miter lim="400000"/>
          </a:ln>
        </p:spPr>
      </p:pic>
      <p:sp>
        <p:nvSpPr>
          <p:cNvPr id="165" name="Treatment…"/>
          <p:cNvSpPr txBox="1"/>
          <p:nvPr/>
        </p:nvSpPr>
        <p:spPr>
          <a:xfrm>
            <a:off x="20811441" y="3859808"/>
            <a:ext cx="2689839" cy="19954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lang="en-US" dirty="0"/>
              <a:t>Case/</a:t>
            </a:r>
          </a:p>
          <a:p>
            <a:r>
              <a:rPr dirty="0"/>
              <a:t>Treatment</a:t>
            </a:r>
          </a:p>
          <a:p>
            <a:r>
              <a:rPr dirty="0"/>
              <a:t>Cells</a:t>
            </a:r>
          </a:p>
        </p:txBody>
      </p:sp>
      <p:sp>
        <p:nvSpPr>
          <p:cNvPr id="166" name="Genes"/>
          <p:cNvSpPr txBox="1"/>
          <p:nvPr/>
        </p:nvSpPr>
        <p:spPr>
          <a:xfrm>
            <a:off x="16261485" y="2574612"/>
            <a:ext cx="1695667" cy="721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Genes</a:t>
            </a:r>
          </a:p>
        </p:txBody>
      </p:sp>
      <p:grpSp>
        <p:nvGrpSpPr>
          <p:cNvPr id="172" name="Group"/>
          <p:cNvGrpSpPr/>
          <p:nvPr/>
        </p:nvGrpSpPr>
        <p:grpSpPr>
          <a:xfrm>
            <a:off x="3547524" y="6944153"/>
            <a:ext cx="16879997" cy="2546664"/>
            <a:chOff x="0" y="-91218"/>
            <a:chExt cx="16879995" cy="2546662"/>
          </a:xfrm>
        </p:grpSpPr>
        <p:pic>
          <p:nvPicPr>
            <p:cNvPr id="167" name="Image" descr="Image"/>
            <p:cNvPicPr>
              <a:picLocks noChangeAspect="1"/>
            </p:cNvPicPr>
            <p:nvPr/>
          </p:nvPicPr>
          <p:blipFill>
            <a:blip r:embed="rId5"/>
            <a:stretch>
              <a:fillRect/>
            </a:stretch>
          </p:blipFill>
          <p:spPr>
            <a:xfrm>
              <a:off x="0" y="2044213"/>
              <a:ext cx="7380486" cy="411231"/>
            </a:xfrm>
            <a:prstGeom prst="rect">
              <a:avLst/>
            </a:prstGeom>
            <a:ln w="12700" cap="flat">
              <a:noFill/>
              <a:miter lim="400000"/>
            </a:ln>
            <a:effectLst/>
          </p:spPr>
        </p:pic>
        <p:pic>
          <p:nvPicPr>
            <p:cNvPr id="168" name="Screenshot 2023-08-31 at 4.46.21 PM.png" descr="Screenshot 2023-08-31 at 4.46.21 PM.png"/>
            <p:cNvPicPr>
              <a:picLocks noChangeAspect="1"/>
            </p:cNvPicPr>
            <p:nvPr/>
          </p:nvPicPr>
          <p:blipFill>
            <a:blip r:embed="rId6"/>
            <a:stretch>
              <a:fillRect/>
            </a:stretch>
          </p:blipFill>
          <p:spPr>
            <a:xfrm>
              <a:off x="9499508" y="2049399"/>
              <a:ext cx="7380487" cy="400858"/>
            </a:xfrm>
            <a:prstGeom prst="rect">
              <a:avLst/>
            </a:prstGeom>
            <a:ln w="12700" cap="flat">
              <a:noFill/>
              <a:miter lim="400000"/>
            </a:ln>
            <a:effectLst/>
          </p:spPr>
        </p:pic>
        <p:sp>
          <p:nvSpPr>
            <p:cNvPr id="169" name="Line"/>
            <p:cNvSpPr/>
            <p:nvPr/>
          </p:nvSpPr>
          <p:spPr>
            <a:xfrm>
              <a:off x="3690243" y="0"/>
              <a:ext cx="1" cy="1518776"/>
            </a:xfrm>
            <a:prstGeom prst="line">
              <a:avLst/>
            </a:prstGeom>
            <a:noFill/>
            <a:ln w="76200" cap="flat">
              <a:solidFill>
                <a:srgbClr val="000000"/>
              </a:solidFill>
              <a:prstDash val="solid"/>
              <a:miter lim="400000"/>
              <a:tailEnd type="triangle" w="med" len="med"/>
            </a:ln>
            <a:effectLst/>
          </p:spPr>
          <p:txBody>
            <a:bodyPr wrap="square" lIns="50800" tIns="50800" rIns="50800" bIns="50800" numCol="1" anchor="ctr">
              <a:noAutofit/>
            </a:bodyPr>
            <a:lstStyle/>
            <a:p>
              <a:endParaRPr/>
            </a:p>
          </p:txBody>
        </p:sp>
        <p:sp>
          <p:nvSpPr>
            <p:cNvPr id="170" name="Line"/>
            <p:cNvSpPr/>
            <p:nvPr/>
          </p:nvSpPr>
          <p:spPr>
            <a:xfrm>
              <a:off x="13536990" y="0"/>
              <a:ext cx="1" cy="1518776"/>
            </a:xfrm>
            <a:prstGeom prst="line">
              <a:avLst/>
            </a:prstGeom>
            <a:noFill/>
            <a:ln w="76200" cap="flat">
              <a:solidFill>
                <a:srgbClr val="000000"/>
              </a:solidFill>
              <a:prstDash val="solid"/>
              <a:miter lim="400000"/>
              <a:tailEnd type="triangle" w="med" len="med"/>
            </a:ln>
            <a:effectLst/>
          </p:spPr>
          <p:txBody>
            <a:bodyPr wrap="square" lIns="50800" tIns="50800" rIns="50800" bIns="50800" numCol="1" anchor="ctr">
              <a:noAutofit/>
            </a:bodyPr>
            <a:lstStyle/>
            <a:p>
              <a:endParaRPr/>
            </a:p>
          </p:txBody>
        </p:sp>
        <p:sp>
          <p:nvSpPr>
            <p:cNvPr id="171" name="Population Mean"/>
            <p:cNvSpPr txBox="1"/>
            <p:nvPr/>
          </p:nvSpPr>
          <p:spPr>
            <a:xfrm>
              <a:off x="6143396" y="-91218"/>
              <a:ext cx="4940454" cy="7335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lang="en-US" dirty="0"/>
                <a:t>Expression Profiles</a:t>
              </a:r>
              <a:endParaRPr dirty="0"/>
            </a:p>
          </p:txBody>
        </p:sp>
      </p:grpSp>
      <p:grpSp>
        <p:nvGrpSpPr>
          <p:cNvPr id="175" name="Group"/>
          <p:cNvGrpSpPr/>
          <p:nvPr/>
        </p:nvGrpSpPr>
        <p:grpSpPr>
          <a:xfrm>
            <a:off x="11439976" y="8133566"/>
            <a:ext cx="1095091" cy="1357624"/>
            <a:chOff x="0" y="0"/>
            <a:chExt cx="1095089" cy="1357622"/>
          </a:xfrm>
        </p:grpSpPr>
        <p:pic>
          <p:nvPicPr>
            <p:cNvPr id="173" name="Image" descr="Image"/>
            <p:cNvPicPr>
              <a:picLocks noChangeAspect="1"/>
            </p:cNvPicPr>
            <p:nvPr/>
          </p:nvPicPr>
          <p:blipFill>
            <a:blip r:embed="rId7"/>
            <a:stretch>
              <a:fillRect/>
            </a:stretch>
          </p:blipFill>
          <p:spPr>
            <a:xfrm>
              <a:off x="0" y="901335"/>
              <a:ext cx="1095090" cy="456288"/>
            </a:xfrm>
            <a:prstGeom prst="rect">
              <a:avLst/>
            </a:prstGeom>
            <a:ln w="12700" cap="flat">
              <a:noFill/>
              <a:miter lim="400000"/>
            </a:ln>
            <a:effectLst/>
          </p:spPr>
        </p:pic>
        <p:pic>
          <p:nvPicPr>
            <p:cNvPr id="174" name="Image" descr="Image"/>
            <p:cNvPicPr>
              <a:picLocks noChangeAspect="1"/>
            </p:cNvPicPr>
            <p:nvPr/>
          </p:nvPicPr>
          <p:blipFill>
            <a:blip r:embed="rId8"/>
            <a:stretch>
              <a:fillRect/>
            </a:stretch>
          </p:blipFill>
          <p:spPr>
            <a:xfrm>
              <a:off x="310233" y="0"/>
              <a:ext cx="474624" cy="915347"/>
            </a:xfrm>
            <a:prstGeom prst="rect">
              <a:avLst/>
            </a:prstGeom>
            <a:ln w="12700" cap="flat">
              <a:noFill/>
              <a:miter lim="400000"/>
            </a:ln>
            <a:effectLst/>
          </p:spPr>
        </p:pic>
      </p:grpSp>
      <p:sp>
        <p:nvSpPr>
          <p:cNvPr id="2" name="Slide Number Placeholder 1">
            <a:extLst>
              <a:ext uri="{FF2B5EF4-FFF2-40B4-BE49-F238E27FC236}">
                <a16:creationId xmlns:a16="http://schemas.microsoft.com/office/drawing/2014/main" id="{4DA3472F-1BCD-DDBD-EF81-B4B43179AF47}"/>
              </a:ext>
            </a:extLst>
          </p:cNvPr>
          <p:cNvSpPr>
            <a:spLocks noGrp="1"/>
          </p:cNvSpPr>
          <p:nvPr>
            <p:ph type="sldNum" sz="quarter" idx="2"/>
          </p:nvPr>
        </p:nvSpPr>
        <p:spPr/>
        <p:txBody>
          <a:bodyPr/>
          <a:lstStyle/>
          <a:p>
            <a:fld id="{86CB4B4D-7CA3-9044-876B-883B54F8677D}" type="slidenum">
              <a:rPr lang="en-US" smtClean="0"/>
              <a:t>3</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1" animBg="1" advAuto="0"/>
      <p:bldP spid="175" grpId="2"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he Global Null"/>
          <p:cNvSpPr txBox="1"/>
          <p:nvPr/>
        </p:nvSpPr>
        <p:spPr>
          <a:xfrm>
            <a:off x="968696" y="1082890"/>
            <a:ext cx="14462292" cy="1118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6600" dirty="0"/>
              <a:t>High-Dimensional Mean Comparison</a:t>
            </a:r>
            <a:endParaRPr sz="6600" dirty="0"/>
          </a:p>
        </p:txBody>
      </p:sp>
      <p:pic>
        <p:nvPicPr>
          <p:cNvPr id="180" name="Image" descr="Image"/>
          <p:cNvPicPr>
            <a:picLocks noChangeAspect="1"/>
          </p:cNvPicPr>
          <p:nvPr/>
        </p:nvPicPr>
        <p:blipFill>
          <a:blip r:embed="rId3"/>
          <a:stretch>
            <a:fillRect/>
          </a:stretch>
        </p:blipFill>
        <p:spPr>
          <a:xfrm>
            <a:off x="5755832" y="3174253"/>
            <a:ext cx="4888021" cy="886940"/>
          </a:xfrm>
          <a:prstGeom prst="rect">
            <a:avLst/>
          </a:prstGeom>
          <a:ln w="12700">
            <a:miter lim="400000"/>
          </a:ln>
        </p:spPr>
      </p:pic>
      <p:pic>
        <p:nvPicPr>
          <p:cNvPr id="181" name="Image" descr="Image"/>
          <p:cNvPicPr>
            <a:picLocks noChangeAspect="1"/>
          </p:cNvPicPr>
          <p:nvPr/>
        </p:nvPicPr>
        <p:blipFill>
          <a:blip r:embed="rId4"/>
          <a:stretch>
            <a:fillRect/>
          </a:stretch>
        </p:blipFill>
        <p:spPr>
          <a:xfrm>
            <a:off x="14243773" y="3141473"/>
            <a:ext cx="4673601" cy="952501"/>
          </a:xfrm>
          <a:prstGeom prst="rect">
            <a:avLst/>
          </a:prstGeom>
          <a:ln w="12700">
            <a:miter lim="400000"/>
          </a:ln>
        </p:spPr>
      </p:pic>
      <p:sp>
        <p:nvSpPr>
          <p:cNvPr id="3" name="Slide Number Placeholder 2">
            <a:extLst>
              <a:ext uri="{FF2B5EF4-FFF2-40B4-BE49-F238E27FC236}">
                <a16:creationId xmlns:a16="http://schemas.microsoft.com/office/drawing/2014/main" id="{D5E2DB4B-05BA-7FFB-16E5-74C2D09EB846}"/>
              </a:ext>
            </a:extLst>
          </p:cNvPr>
          <p:cNvSpPr>
            <a:spLocks noGrp="1"/>
          </p:cNvSpPr>
          <p:nvPr>
            <p:ph type="sldNum" sz="quarter" idx="2"/>
          </p:nvPr>
        </p:nvSpPr>
        <p:spPr/>
        <p:txBody>
          <a:bodyPr/>
          <a:lstStyle/>
          <a:p>
            <a:fld id="{86CB4B4D-7CA3-9044-876B-883B54F8677D}" type="slidenum">
              <a:rPr lang="en-US" smtClean="0"/>
              <a:t>4</a:t>
            </a:fld>
            <a:endParaRPr lang="en-US"/>
          </a:p>
        </p:txBody>
      </p:sp>
      <p:grpSp>
        <p:nvGrpSpPr>
          <p:cNvPr id="5" name="Group 4">
            <a:extLst>
              <a:ext uri="{FF2B5EF4-FFF2-40B4-BE49-F238E27FC236}">
                <a16:creationId xmlns:a16="http://schemas.microsoft.com/office/drawing/2014/main" id="{28A7B5B8-C032-8AC0-DE9A-25898778F90D}"/>
              </a:ext>
            </a:extLst>
          </p:cNvPr>
          <p:cNvGrpSpPr/>
          <p:nvPr/>
        </p:nvGrpSpPr>
        <p:grpSpPr>
          <a:xfrm>
            <a:off x="3883764" y="5548723"/>
            <a:ext cx="14404961" cy="5149984"/>
            <a:chOff x="3883764" y="5548723"/>
            <a:chExt cx="14404961" cy="5149984"/>
          </a:xfrm>
        </p:grpSpPr>
        <p:grpSp>
          <p:nvGrpSpPr>
            <p:cNvPr id="187" name="Group"/>
            <p:cNvGrpSpPr/>
            <p:nvPr/>
          </p:nvGrpSpPr>
          <p:grpSpPr>
            <a:xfrm>
              <a:off x="3883764" y="5548723"/>
              <a:ext cx="14404961" cy="5149984"/>
              <a:chOff x="-25662" y="-6018"/>
              <a:chExt cx="14404960" cy="5149982"/>
            </a:xfrm>
          </p:grpSpPr>
          <p:pic>
            <p:nvPicPr>
              <p:cNvPr id="183" name="Image" descr="Image"/>
              <p:cNvPicPr>
                <a:picLocks noChangeAspect="1"/>
              </p:cNvPicPr>
              <p:nvPr/>
            </p:nvPicPr>
            <p:blipFill>
              <a:blip r:embed="rId5"/>
              <a:stretch>
                <a:fillRect/>
              </a:stretch>
            </p:blipFill>
            <p:spPr>
              <a:xfrm>
                <a:off x="2525116" y="4426413"/>
                <a:ext cx="3530601" cy="698501"/>
              </a:xfrm>
              <a:prstGeom prst="rect">
                <a:avLst/>
              </a:prstGeom>
              <a:ln w="12700" cap="flat">
                <a:noFill/>
                <a:miter lim="400000"/>
              </a:ln>
              <a:effectLst/>
            </p:spPr>
          </p:pic>
          <p:pic>
            <p:nvPicPr>
              <p:cNvPr id="184" name="Image" descr="Image"/>
              <p:cNvPicPr>
                <a:picLocks noChangeAspect="1"/>
              </p:cNvPicPr>
              <p:nvPr/>
            </p:nvPicPr>
            <p:blipFill>
              <a:blip r:embed="rId6"/>
              <a:stretch>
                <a:fillRect/>
              </a:stretch>
            </p:blipFill>
            <p:spPr>
              <a:xfrm>
                <a:off x="10962997" y="4407363"/>
                <a:ext cx="3416301" cy="736601"/>
              </a:xfrm>
              <a:prstGeom prst="rect">
                <a:avLst/>
              </a:prstGeom>
              <a:ln w="12700" cap="flat">
                <a:noFill/>
                <a:miter lim="400000"/>
              </a:ln>
              <a:effectLst/>
            </p:spPr>
          </p:pic>
          <p:sp>
            <p:nvSpPr>
              <p:cNvPr id="185" name="Testing the global null hypothesis:"/>
              <p:cNvSpPr txBox="1"/>
              <p:nvPr/>
            </p:nvSpPr>
            <p:spPr>
              <a:xfrm>
                <a:off x="-25662" y="-6018"/>
                <a:ext cx="8632170"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Testing the </a:t>
                </a:r>
                <a:r>
                  <a:rPr lang="en-US" dirty="0">
                    <a:solidFill>
                      <a:schemeClr val="tx1"/>
                    </a:solidFill>
                  </a:rPr>
                  <a:t>expected gene profile</a:t>
                </a:r>
                <a:r>
                  <a:rPr dirty="0"/>
                  <a:t>:</a:t>
                </a:r>
              </a:p>
            </p:txBody>
          </p:sp>
          <p:sp>
            <p:nvSpPr>
              <p:cNvPr id="186" name="where"/>
              <p:cNvSpPr txBox="1"/>
              <p:nvPr/>
            </p:nvSpPr>
            <p:spPr>
              <a:xfrm>
                <a:off x="-1" y="3249179"/>
                <a:ext cx="1782624"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 where</a:t>
                </a:r>
              </a:p>
            </p:txBody>
          </p:sp>
        </p:grpSp>
        <p:pic>
          <p:nvPicPr>
            <p:cNvPr id="4" name="Picture 3">
              <a:extLst>
                <a:ext uri="{FF2B5EF4-FFF2-40B4-BE49-F238E27FC236}">
                  <a16:creationId xmlns:a16="http://schemas.microsoft.com/office/drawing/2014/main" id="{CA9F0895-3674-2728-AE74-CA41E65A0839}"/>
                </a:ext>
              </a:extLst>
            </p:cNvPr>
            <p:cNvPicPr>
              <a:picLocks noChangeAspect="1"/>
            </p:cNvPicPr>
            <p:nvPr/>
          </p:nvPicPr>
          <p:blipFill>
            <a:blip r:embed="rId7"/>
            <a:stretch>
              <a:fillRect/>
            </a:stretch>
          </p:blipFill>
          <p:spPr>
            <a:xfrm>
              <a:off x="11071131" y="7217036"/>
              <a:ext cx="2889607" cy="519714"/>
            </a:xfrm>
            <a:prstGeom prst="rect">
              <a:avLst/>
            </a:prstGeom>
          </p:spPr>
        </p:pic>
      </p:grpSp>
      <p:sp>
        <p:nvSpPr>
          <p:cNvPr id="2" name="TextBox 1">
            <a:extLst>
              <a:ext uri="{FF2B5EF4-FFF2-40B4-BE49-F238E27FC236}">
                <a16:creationId xmlns:a16="http://schemas.microsoft.com/office/drawing/2014/main" id="{203A6203-A3D5-1F94-D61C-BB35639686AB}"/>
              </a:ext>
            </a:extLst>
          </p:cNvPr>
          <p:cNvSpPr txBox="1"/>
          <p:nvPr/>
        </p:nvSpPr>
        <p:spPr>
          <a:xfrm>
            <a:off x="3883764" y="11899576"/>
            <a:ext cx="1145506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Challenge: too many genes and too few cells.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A Rich Literature from Statisticians"/>
          <p:cNvSpPr txBox="1"/>
          <p:nvPr/>
        </p:nvSpPr>
        <p:spPr>
          <a:xfrm>
            <a:off x="1579878" y="926963"/>
            <a:ext cx="15937055"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dirty="0"/>
              <a:t>A Rich Literature from </a:t>
            </a:r>
            <a:r>
              <a:rPr lang="en-US" dirty="0"/>
              <a:t>Statistics</a:t>
            </a:r>
            <a:endParaRPr dirty="0"/>
          </a:p>
        </p:txBody>
      </p:sp>
      <p:sp>
        <p:nvSpPr>
          <p:cNvPr id="190" name="Pairwise t-test plus Bonferroni correction"/>
          <p:cNvSpPr txBox="1"/>
          <p:nvPr/>
        </p:nvSpPr>
        <p:spPr>
          <a:xfrm>
            <a:off x="3063937" y="3143276"/>
            <a:ext cx="11916724"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lang="en-US" dirty="0"/>
              <a:t>T</a:t>
            </a:r>
            <a:r>
              <a:rPr dirty="0"/>
              <a:t>-test </a:t>
            </a:r>
            <a:r>
              <a:rPr lang="en-US" dirty="0"/>
              <a:t>for each gene </a:t>
            </a:r>
            <a:r>
              <a:rPr dirty="0"/>
              <a:t>plus Bonferroni correction</a:t>
            </a:r>
          </a:p>
        </p:txBody>
      </p:sp>
      <p:sp>
        <p:nvSpPr>
          <p:cNvPr id="191" name="Hotelling’s"/>
          <p:cNvSpPr txBox="1"/>
          <p:nvPr/>
        </p:nvSpPr>
        <p:spPr>
          <a:xfrm>
            <a:off x="2772466" y="4165779"/>
            <a:ext cx="3709303" cy="7214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Hotelling’s   </a:t>
            </a:r>
          </a:p>
        </p:txBody>
      </p:sp>
      <p:pic>
        <p:nvPicPr>
          <p:cNvPr id="192" name="Image" descr="Image"/>
          <p:cNvPicPr>
            <a:picLocks noChangeAspect="1"/>
          </p:cNvPicPr>
          <p:nvPr/>
        </p:nvPicPr>
        <p:blipFill>
          <a:blip r:embed="rId3"/>
          <a:stretch>
            <a:fillRect/>
          </a:stretch>
        </p:blipFill>
        <p:spPr>
          <a:xfrm>
            <a:off x="5810750" y="4226664"/>
            <a:ext cx="558801" cy="469901"/>
          </a:xfrm>
          <a:prstGeom prst="rect">
            <a:avLst/>
          </a:prstGeom>
          <a:ln w="12700">
            <a:miter lim="400000"/>
          </a:ln>
        </p:spPr>
      </p:pic>
      <p:sp>
        <p:nvSpPr>
          <p:cNvPr id="193" name=": Multivariate but dimension needs to be small"/>
          <p:cNvSpPr txBox="1"/>
          <p:nvPr/>
        </p:nvSpPr>
        <p:spPr>
          <a:xfrm>
            <a:off x="6501388" y="4165779"/>
            <a:ext cx="11662386" cy="7214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 Multivariate but dimension needs to be small </a:t>
            </a:r>
          </a:p>
        </p:txBody>
      </p:sp>
      <p:sp>
        <p:nvSpPr>
          <p:cNvPr id="194" name="(1932)"/>
          <p:cNvSpPr txBox="1"/>
          <p:nvPr/>
        </p:nvSpPr>
        <p:spPr>
          <a:xfrm>
            <a:off x="19413038" y="4165779"/>
            <a:ext cx="1580592" cy="7214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(1932)</a:t>
            </a:r>
          </a:p>
        </p:txBody>
      </p:sp>
      <p:pic>
        <p:nvPicPr>
          <p:cNvPr id="195" name="Screenshot 2023-09-01 at 10.59.03 AM.png" descr="Screenshot 2023-09-01 at 10.59.03 AM.png"/>
          <p:cNvPicPr>
            <a:picLocks noChangeAspect="1"/>
          </p:cNvPicPr>
          <p:nvPr/>
        </p:nvPicPr>
        <p:blipFill>
          <a:blip r:embed="rId4"/>
          <a:stretch>
            <a:fillRect/>
          </a:stretch>
        </p:blipFill>
        <p:spPr>
          <a:xfrm>
            <a:off x="7970245" y="14488049"/>
            <a:ext cx="9546688" cy="7434299"/>
          </a:xfrm>
          <a:prstGeom prst="rect">
            <a:avLst/>
          </a:prstGeom>
          <a:ln w="12700">
            <a:miter lim="400000"/>
          </a:ln>
        </p:spPr>
      </p:pic>
      <p:grpSp>
        <p:nvGrpSpPr>
          <p:cNvPr id="204" name="Group"/>
          <p:cNvGrpSpPr/>
          <p:nvPr/>
        </p:nvGrpSpPr>
        <p:grpSpPr>
          <a:xfrm>
            <a:off x="3221197" y="5768850"/>
            <a:ext cx="18127381" cy="2330587"/>
            <a:chOff x="472371" y="0"/>
            <a:chExt cx="18127379" cy="2330585"/>
          </a:xfrm>
        </p:grpSpPr>
        <p:grpSp>
          <p:nvGrpSpPr>
            <p:cNvPr id="198" name="Group"/>
            <p:cNvGrpSpPr/>
            <p:nvPr/>
          </p:nvGrpSpPr>
          <p:grpSpPr>
            <a:xfrm>
              <a:off x="675571" y="138498"/>
              <a:ext cx="8597244" cy="1492252"/>
              <a:chOff x="627160" y="138498"/>
              <a:chExt cx="8597243" cy="1492251"/>
            </a:xfrm>
          </p:grpSpPr>
          <p:pic>
            <p:nvPicPr>
              <p:cNvPr id="196" name="Image" descr="Image"/>
              <p:cNvPicPr>
                <a:picLocks noChangeAspect="1"/>
              </p:cNvPicPr>
              <p:nvPr/>
            </p:nvPicPr>
            <p:blipFill>
              <a:blip r:embed="rId5"/>
              <a:stretch>
                <a:fillRect/>
              </a:stretch>
            </p:blipFill>
            <p:spPr>
              <a:xfrm>
                <a:off x="627160" y="138498"/>
                <a:ext cx="533400" cy="444501"/>
              </a:xfrm>
              <a:prstGeom prst="rect">
                <a:avLst/>
              </a:prstGeom>
              <a:ln w="12700" cap="flat">
                <a:noFill/>
                <a:miter lim="400000"/>
              </a:ln>
              <a:effectLst/>
            </p:spPr>
          </p:pic>
          <p:sp>
            <p:nvSpPr>
              <p:cNvPr id="197" name="—type tests: accumulate the weak signal of all dimensions"/>
              <p:cNvSpPr/>
              <p:nvPr/>
            </p:nvSpPr>
            <p:spPr>
              <a:xfrm>
                <a:off x="7954402" y="360748"/>
                <a:ext cx="1270001"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—type tests: accumulate the weak signal of all </a:t>
                </a:r>
                <a:r>
                  <a:rPr lang="en-US" dirty="0"/>
                  <a:t>genes</a:t>
                </a:r>
                <a:endParaRPr dirty="0"/>
              </a:p>
            </p:txBody>
          </p:sp>
        </p:grpSp>
        <p:sp>
          <p:nvSpPr>
            <p:cNvPr id="199" name="(1996- )"/>
            <p:cNvSpPr txBox="1"/>
            <p:nvPr/>
          </p:nvSpPr>
          <p:spPr>
            <a:xfrm>
              <a:off x="16662479" y="0"/>
              <a:ext cx="193727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(1996- )</a:t>
              </a:r>
            </a:p>
          </p:txBody>
        </p:sp>
        <p:sp>
          <p:nvSpPr>
            <p:cNvPr id="200" name="—type tests:"/>
            <p:cNvSpPr txBox="1"/>
            <p:nvPr/>
          </p:nvSpPr>
          <p:spPr>
            <a:xfrm>
              <a:off x="1252570" y="757607"/>
              <a:ext cx="3219756"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—type tests:</a:t>
              </a:r>
            </a:p>
          </p:txBody>
        </p:sp>
        <p:pic>
          <p:nvPicPr>
            <p:cNvPr id="201" name="Image" descr="Image"/>
            <p:cNvPicPr>
              <a:picLocks noChangeAspect="1"/>
            </p:cNvPicPr>
            <p:nvPr/>
          </p:nvPicPr>
          <p:blipFill>
            <a:blip r:embed="rId6"/>
            <a:stretch>
              <a:fillRect/>
            </a:stretch>
          </p:blipFill>
          <p:spPr>
            <a:xfrm>
              <a:off x="472371" y="995748"/>
              <a:ext cx="736600" cy="444501"/>
            </a:xfrm>
            <a:prstGeom prst="rect">
              <a:avLst/>
            </a:prstGeom>
            <a:ln w="12700" cap="flat">
              <a:noFill/>
              <a:miter lim="400000"/>
            </a:ln>
            <a:effectLst/>
          </p:spPr>
        </p:pic>
        <p:sp>
          <p:nvSpPr>
            <p:cNvPr id="202" name="identify the distribution of “the supremum of pairwise t-stat”"/>
            <p:cNvSpPr txBox="1"/>
            <p:nvPr/>
          </p:nvSpPr>
          <p:spPr>
            <a:xfrm>
              <a:off x="1542308" y="1597052"/>
              <a:ext cx="13619112" cy="7335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lang="en-US" dirty="0"/>
                <a:t>Properly use the dimension with the largest difference</a:t>
              </a:r>
              <a:endParaRPr dirty="0"/>
            </a:p>
          </p:txBody>
        </p:sp>
        <p:sp>
          <p:nvSpPr>
            <p:cNvPr id="203" name="(2014- )"/>
            <p:cNvSpPr txBox="1"/>
            <p:nvPr/>
          </p:nvSpPr>
          <p:spPr>
            <a:xfrm>
              <a:off x="16662479" y="1603070"/>
              <a:ext cx="193727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(2014- )</a:t>
              </a:r>
            </a:p>
          </p:txBody>
        </p:sp>
      </p:grpSp>
      <p:grpSp>
        <p:nvGrpSpPr>
          <p:cNvPr id="207" name="Group"/>
          <p:cNvGrpSpPr/>
          <p:nvPr/>
        </p:nvGrpSpPr>
        <p:grpSpPr>
          <a:xfrm>
            <a:off x="2720605" y="8793128"/>
            <a:ext cx="18627971" cy="721497"/>
            <a:chOff x="0" y="0"/>
            <a:chExt cx="18627969" cy="721496"/>
          </a:xfrm>
        </p:grpSpPr>
        <p:sp>
          <p:nvSpPr>
            <p:cNvPr id="205" name="More ‘adaptive’ tests"/>
            <p:cNvSpPr txBox="1"/>
            <p:nvPr/>
          </p:nvSpPr>
          <p:spPr>
            <a:xfrm>
              <a:off x="0" y="0"/>
              <a:ext cx="532182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More ‘adaptive’ tests</a:t>
              </a:r>
            </a:p>
          </p:txBody>
        </p:sp>
        <p:sp>
          <p:nvSpPr>
            <p:cNvPr id="206" name="(2016- )"/>
            <p:cNvSpPr txBox="1"/>
            <p:nvPr/>
          </p:nvSpPr>
          <p:spPr>
            <a:xfrm>
              <a:off x="16690699" y="0"/>
              <a:ext cx="193727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(2016- )</a:t>
              </a:r>
            </a:p>
          </p:txBody>
        </p:sp>
      </p:grpSp>
      <p:sp>
        <p:nvSpPr>
          <p:cNvPr id="2" name="Slide Number Placeholder 1">
            <a:extLst>
              <a:ext uri="{FF2B5EF4-FFF2-40B4-BE49-F238E27FC236}">
                <a16:creationId xmlns:a16="http://schemas.microsoft.com/office/drawing/2014/main" id="{89C1A4F5-FE25-40C8-32E9-2D317CBC176D}"/>
              </a:ext>
            </a:extLst>
          </p:cNvPr>
          <p:cNvSpPr>
            <a:spLocks noGrp="1"/>
          </p:cNvSpPr>
          <p:nvPr>
            <p:ph type="sldNum" sz="quarter" idx="2"/>
          </p:nvPr>
        </p:nvSpPr>
        <p:spPr/>
        <p:txBody>
          <a:bodyPr/>
          <a:lstStyle/>
          <a:p>
            <a:fld id="{86CB4B4D-7CA3-9044-876B-883B54F8677D}" type="slidenum">
              <a:rPr lang="en-US" smtClean="0"/>
              <a:t>5</a:t>
            </a:fld>
            <a:endParaRPr lang="en-US"/>
          </a:p>
        </p:txBody>
      </p:sp>
      <p:sp>
        <p:nvSpPr>
          <p:cNvPr id="3" name="TextBox 2">
            <a:extLst>
              <a:ext uri="{FF2B5EF4-FFF2-40B4-BE49-F238E27FC236}">
                <a16:creationId xmlns:a16="http://schemas.microsoft.com/office/drawing/2014/main" id="{2CDBD8DC-8EE7-D4B9-94E9-31FFF530F8E3}"/>
              </a:ext>
            </a:extLst>
          </p:cNvPr>
          <p:cNvSpPr txBox="1"/>
          <p:nvPr/>
        </p:nvSpPr>
        <p:spPr>
          <a:xfrm>
            <a:off x="3221197" y="10991421"/>
            <a:ext cx="844301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3984CD"/>
                </a:solidFill>
                <a:effectLst/>
                <a:uFillTx/>
                <a:latin typeface="Helvetica Neue"/>
                <a:ea typeface="Helvetica Neue"/>
                <a:cs typeface="Helvetica Neue"/>
                <a:sym typeface="Helvetica Neue"/>
              </a:rPr>
              <a:t>Powerful frequentist test, p-value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iterate>
                                    <p:tmAbs val="0"/>
                                  </p:iterate>
                                  <p:childTnLst>
                                    <p:set>
                                      <p:cBhvr>
                                        <p:cTn id="6" fill="hold"/>
                                        <p:tgtEl>
                                          <p:spTgt spid="2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iterate>
                                    <p:tmAbs val="0"/>
                                  </p:iterate>
                                  <p:childTnLst>
                                    <p:set>
                                      <p:cBhvr>
                                        <p:cTn id="10" fill="hold"/>
                                        <p:tgtEl>
                                          <p:spTgt spid="2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 grpId="2" animBg="1" advAuto="0"/>
      <p:bldP spid="207" grpId="3" animBg="1" advAuto="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Meanwhile scientists are doing things differently"/>
          <p:cNvSpPr txBox="1"/>
          <p:nvPr/>
        </p:nvSpPr>
        <p:spPr>
          <a:xfrm>
            <a:off x="2213613" y="728752"/>
            <a:ext cx="15821640" cy="13336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sz="8000" b="1" dirty="0"/>
              <a:t>Meanwhile scientific community</a:t>
            </a:r>
          </a:p>
        </p:txBody>
      </p:sp>
      <p:pic>
        <p:nvPicPr>
          <p:cNvPr id="213" name="Image" descr="Image"/>
          <p:cNvPicPr>
            <a:picLocks noChangeAspect="1"/>
          </p:cNvPicPr>
          <p:nvPr/>
        </p:nvPicPr>
        <p:blipFill>
          <a:blip r:embed="rId3"/>
          <a:stretch>
            <a:fillRect/>
          </a:stretch>
        </p:blipFill>
        <p:spPr>
          <a:xfrm>
            <a:off x="11959031" y="2820203"/>
            <a:ext cx="10529470" cy="3538951"/>
          </a:xfrm>
          <a:prstGeom prst="rect">
            <a:avLst/>
          </a:prstGeom>
          <a:ln w="12700">
            <a:miter lim="400000"/>
          </a:ln>
        </p:spPr>
      </p:pic>
      <p:pic>
        <p:nvPicPr>
          <p:cNvPr id="214" name="Image" descr="Image"/>
          <p:cNvPicPr>
            <a:picLocks noChangeAspect="1"/>
          </p:cNvPicPr>
          <p:nvPr/>
        </p:nvPicPr>
        <p:blipFill>
          <a:blip r:embed="rId4"/>
          <a:stretch>
            <a:fillRect/>
          </a:stretch>
        </p:blipFill>
        <p:spPr>
          <a:xfrm>
            <a:off x="1960305" y="3083815"/>
            <a:ext cx="9024002" cy="4040364"/>
          </a:xfrm>
          <a:prstGeom prst="rect">
            <a:avLst/>
          </a:prstGeom>
          <a:ln w="12700">
            <a:miter lim="400000"/>
          </a:ln>
        </p:spPr>
      </p:pic>
      <p:sp>
        <p:nvSpPr>
          <p:cNvPr id="220" name="Not only p-values?"/>
          <p:cNvSpPr txBox="1"/>
          <p:nvPr/>
        </p:nvSpPr>
        <p:spPr>
          <a:xfrm>
            <a:off x="13043820" y="8943434"/>
            <a:ext cx="7325723" cy="13644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Not only p-values</a:t>
            </a:r>
            <a:r>
              <a:rPr lang="en-US" dirty="0"/>
              <a:t>.</a:t>
            </a:r>
          </a:p>
          <a:p>
            <a:r>
              <a:rPr lang="en-US" dirty="0"/>
              <a:t>Additional structural insight. </a:t>
            </a:r>
          </a:p>
        </p:txBody>
      </p:sp>
      <p:sp>
        <p:nvSpPr>
          <p:cNvPr id="222" name="Rectangle"/>
          <p:cNvSpPr/>
          <p:nvPr/>
        </p:nvSpPr>
        <p:spPr>
          <a:xfrm>
            <a:off x="2206143" y="3940449"/>
            <a:ext cx="6757064" cy="532359"/>
          </a:xfrm>
          <a:prstGeom prst="rect">
            <a:avLst/>
          </a:prstGeom>
          <a:ln w="63500">
            <a:solidFill>
              <a:srgbClr val="B42B36"/>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sp>
        <p:nvSpPr>
          <p:cNvPr id="223" name="Rectangle"/>
          <p:cNvSpPr/>
          <p:nvPr/>
        </p:nvSpPr>
        <p:spPr>
          <a:xfrm>
            <a:off x="17383622" y="3408090"/>
            <a:ext cx="4130155" cy="532359"/>
          </a:xfrm>
          <a:prstGeom prst="rect">
            <a:avLst/>
          </a:prstGeom>
          <a:ln w="63500">
            <a:solidFill>
              <a:srgbClr val="B42B36"/>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sp>
        <p:nvSpPr>
          <p:cNvPr id="2" name="Slide Number Placeholder 1">
            <a:extLst>
              <a:ext uri="{FF2B5EF4-FFF2-40B4-BE49-F238E27FC236}">
                <a16:creationId xmlns:a16="http://schemas.microsoft.com/office/drawing/2014/main" id="{B2747364-54E6-6C82-4345-BFE261ED7E9F}"/>
              </a:ext>
            </a:extLst>
          </p:cNvPr>
          <p:cNvSpPr>
            <a:spLocks noGrp="1"/>
          </p:cNvSpPr>
          <p:nvPr>
            <p:ph type="sldNum" sz="quarter" idx="2"/>
          </p:nvPr>
        </p:nvSpPr>
        <p:spPr/>
        <p:txBody>
          <a:bodyPr/>
          <a:lstStyle/>
          <a:p>
            <a:fld id="{86CB4B4D-7CA3-9044-876B-883B54F8677D}" type="slidenum">
              <a:rPr lang="en-US" smtClean="0"/>
              <a:t>6</a:t>
            </a:fld>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C37C05-3E36-E9E6-0900-6AF61901412C}"/>
              </a:ext>
            </a:extLst>
          </p:cNvPr>
          <p:cNvSpPr>
            <a:spLocks noGrp="1"/>
          </p:cNvSpPr>
          <p:nvPr>
            <p:ph type="sldNum" sz="quarter" idx="2"/>
          </p:nvPr>
        </p:nvSpPr>
        <p:spPr/>
        <p:txBody>
          <a:bodyPr/>
          <a:lstStyle/>
          <a:p>
            <a:fld id="{86CB4B4D-7CA3-9044-876B-883B54F8677D}" type="slidenum">
              <a:rPr lang="en-US" smtClean="0"/>
              <a:t>7</a:t>
            </a:fld>
            <a:endParaRPr lang="en-US"/>
          </a:p>
        </p:txBody>
      </p:sp>
      <p:sp>
        <p:nvSpPr>
          <p:cNvPr id="3" name="Meanwhile scientists are doing things differently">
            <a:extLst>
              <a:ext uri="{FF2B5EF4-FFF2-40B4-BE49-F238E27FC236}">
                <a16:creationId xmlns:a16="http://schemas.microsoft.com/office/drawing/2014/main" id="{F51E3E64-5D53-D013-CAAD-D3B47CC349F1}"/>
              </a:ext>
            </a:extLst>
          </p:cNvPr>
          <p:cNvSpPr txBox="1"/>
          <p:nvPr/>
        </p:nvSpPr>
        <p:spPr>
          <a:xfrm>
            <a:off x="2382949" y="621983"/>
            <a:ext cx="11636199"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dirty="0"/>
              <a:t>Correlated genes ~ Related functions</a:t>
            </a:r>
            <a:endParaRPr dirty="0"/>
          </a:p>
        </p:txBody>
      </p:sp>
      <p:pic>
        <p:nvPicPr>
          <p:cNvPr id="7" name="Picture 6" descr="A graph of a graph&#10;&#10;Description automatically generated with medium confidence">
            <a:extLst>
              <a:ext uri="{FF2B5EF4-FFF2-40B4-BE49-F238E27FC236}">
                <a16:creationId xmlns:a16="http://schemas.microsoft.com/office/drawing/2014/main" id="{22CCA429-922B-AED2-1A7B-3E50331460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2610" y="1891686"/>
            <a:ext cx="16224509" cy="11189314"/>
          </a:xfrm>
          <a:prstGeom prst="rect">
            <a:avLst/>
          </a:prstGeom>
        </p:spPr>
      </p:pic>
      <p:grpSp>
        <p:nvGrpSpPr>
          <p:cNvPr id="18" name="Group 17">
            <a:extLst>
              <a:ext uri="{FF2B5EF4-FFF2-40B4-BE49-F238E27FC236}">
                <a16:creationId xmlns:a16="http://schemas.microsoft.com/office/drawing/2014/main" id="{64E46DB3-228B-2E95-0165-B445E8DF0A7A}"/>
              </a:ext>
            </a:extLst>
          </p:cNvPr>
          <p:cNvGrpSpPr/>
          <p:nvPr/>
        </p:nvGrpSpPr>
        <p:grpSpPr>
          <a:xfrm>
            <a:off x="800198" y="9531458"/>
            <a:ext cx="13218950" cy="3309698"/>
            <a:chOff x="800198" y="9531458"/>
            <a:chExt cx="13218950" cy="3309698"/>
          </a:xfrm>
        </p:grpSpPr>
        <p:sp>
          <p:nvSpPr>
            <p:cNvPr id="8" name="Meanwhile scientists are doing things differently">
              <a:extLst>
                <a:ext uri="{FF2B5EF4-FFF2-40B4-BE49-F238E27FC236}">
                  <a16:creationId xmlns:a16="http://schemas.microsoft.com/office/drawing/2014/main" id="{2C9DB567-8627-A317-4F02-2B125AF37DD6}"/>
                </a:ext>
              </a:extLst>
            </p:cNvPr>
            <p:cNvSpPr txBox="1"/>
            <p:nvPr/>
          </p:nvSpPr>
          <p:spPr>
            <a:xfrm>
              <a:off x="8191122" y="10304014"/>
              <a:ext cx="5828026" cy="17645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5400" b="0">
                  <a:solidFill>
                    <a:srgbClr val="B42B36"/>
                  </a:solidFill>
                </a:defRPr>
              </a:lvl1pPr>
            </a:lstStyle>
            <a:p>
              <a:r>
                <a:rPr lang="en-US" dirty="0">
                  <a:solidFill>
                    <a:schemeClr val="tx1"/>
                  </a:solidFill>
                </a:rPr>
                <a:t>PC1</a:t>
              </a:r>
              <a:r>
                <a:rPr lang="en-US" dirty="0"/>
                <a:t> </a:t>
              </a:r>
            </a:p>
            <a:p>
              <a:r>
                <a:rPr lang="en-US" dirty="0"/>
                <a:t>support genes</a:t>
              </a:r>
              <a:endParaRPr dirty="0"/>
            </a:p>
          </p:txBody>
        </p:sp>
        <p:grpSp>
          <p:nvGrpSpPr>
            <p:cNvPr id="11" name="Group 10">
              <a:extLst>
                <a:ext uri="{FF2B5EF4-FFF2-40B4-BE49-F238E27FC236}">
                  <a16:creationId xmlns:a16="http://schemas.microsoft.com/office/drawing/2014/main" id="{CE94F8A3-9DDD-379F-8665-25A83A20834A}"/>
                </a:ext>
              </a:extLst>
            </p:cNvPr>
            <p:cNvGrpSpPr/>
            <p:nvPr/>
          </p:nvGrpSpPr>
          <p:grpSpPr>
            <a:xfrm>
              <a:off x="800198" y="9531458"/>
              <a:ext cx="5896303" cy="3309698"/>
              <a:chOff x="759318" y="2176702"/>
              <a:chExt cx="5896303" cy="3309698"/>
            </a:xfrm>
          </p:grpSpPr>
          <p:sp>
            <p:nvSpPr>
              <p:cNvPr id="4" name="Rounded Rectangle 3">
                <a:extLst>
                  <a:ext uri="{FF2B5EF4-FFF2-40B4-BE49-F238E27FC236}">
                    <a16:creationId xmlns:a16="http://schemas.microsoft.com/office/drawing/2014/main" id="{F650DDA5-F4DD-ED56-99C0-BA1262034B4A}"/>
                  </a:ext>
                </a:extLst>
              </p:cNvPr>
              <p:cNvSpPr/>
              <p:nvPr/>
            </p:nvSpPr>
            <p:spPr>
              <a:xfrm>
                <a:off x="759318" y="2364828"/>
                <a:ext cx="5896303" cy="3121572"/>
              </a:xfrm>
              <a:prstGeom prst="roundRect">
                <a:avLst/>
              </a:prstGeom>
              <a:solidFill>
                <a:srgbClr val="44241F">
                  <a:alpha val="74902"/>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5" name="TextBox 4">
                <a:extLst>
                  <a:ext uri="{FF2B5EF4-FFF2-40B4-BE49-F238E27FC236}">
                    <a16:creationId xmlns:a16="http://schemas.microsoft.com/office/drawing/2014/main" id="{9732EDD3-3710-07E7-C1DA-28233C5EBF30}"/>
                  </a:ext>
                </a:extLst>
              </p:cNvPr>
              <p:cNvSpPr txBox="1"/>
              <p:nvPr/>
            </p:nvSpPr>
            <p:spPr>
              <a:xfrm>
                <a:off x="1454490" y="2176702"/>
                <a:ext cx="4505956" cy="2626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lang="en-US" dirty="0">
                  <a:solidFill>
                    <a:schemeClr val="bg1">
                      <a:lumMod val="85000"/>
                    </a:schemeClr>
                  </a:solidFill>
                </a:endParaRPr>
              </a:p>
              <a:p>
                <a:pPr marL="0" marR="0" indent="0" algn="ctr" defTabSz="825500" rtl="0" fontAlgn="auto" latinLnBrk="0" hangingPunct="0">
                  <a:lnSpc>
                    <a:spcPct val="100000"/>
                  </a:lnSpc>
                  <a:spcBef>
                    <a:spcPts val="0"/>
                  </a:spcBef>
                  <a:spcAft>
                    <a:spcPts val="0"/>
                  </a:spcAft>
                  <a:buClrTx/>
                  <a:buSzTx/>
                  <a:buFontTx/>
                  <a:buNone/>
                  <a:tabLst/>
                </a:pPr>
                <a:r>
                  <a:rPr lang="en-US" dirty="0">
                    <a:solidFill>
                      <a:schemeClr val="bg1">
                        <a:lumMod val="85000"/>
                      </a:schemeClr>
                    </a:solidFill>
                  </a:rPr>
                  <a:t>G</a:t>
                </a:r>
                <a:r>
                  <a:rPr kumimoji="0" lang="en-US" sz="4100" b="1" i="0" u="none" strike="noStrike" cap="none" spc="0" normalizeH="0" baseline="0" dirty="0">
                    <a:ln>
                      <a:noFill/>
                    </a:ln>
                    <a:solidFill>
                      <a:schemeClr val="bg1">
                        <a:lumMod val="85000"/>
                      </a:schemeClr>
                    </a:solidFill>
                    <a:effectLst/>
                    <a:uFillTx/>
                    <a:latin typeface="Helvetica Neue"/>
                    <a:ea typeface="Helvetica Neue"/>
                    <a:cs typeface="Helvetica Neue"/>
                    <a:sym typeface="Helvetica Neue"/>
                  </a:rPr>
                  <a:t>enes with large </a:t>
                </a:r>
                <a:r>
                  <a:rPr lang="en-US" dirty="0">
                    <a:solidFill>
                      <a:schemeClr val="bg1">
                        <a:lumMod val="85000"/>
                      </a:schemeClr>
                    </a:solidFill>
                  </a:rPr>
                  <a:t>loadings in </a:t>
                </a:r>
              </a:p>
              <a:p>
                <a:pPr marL="0" marR="0" indent="0" algn="ctr" defTabSz="825500" rtl="0" fontAlgn="auto" latinLnBrk="0" hangingPunct="0">
                  <a:lnSpc>
                    <a:spcPct val="100000"/>
                  </a:lnSpc>
                  <a:spcBef>
                    <a:spcPts val="0"/>
                  </a:spcBef>
                  <a:spcAft>
                    <a:spcPts val="0"/>
                  </a:spcAft>
                  <a:buClrTx/>
                  <a:buSzTx/>
                  <a:buFontTx/>
                  <a:buNone/>
                  <a:tabLst/>
                </a:pPr>
                <a:r>
                  <a:rPr lang="en-US" dirty="0">
                    <a:solidFill>
                      <a:schemeClr val="bg1">
                        <a:lumMod val="85000"/>
                      </a:schemeClr>
                    </a:solidFill>
                  </a:rPr>
                  <a:t>top PC vector</a:t>
                </a:r>
              </a:p>
            </p:txBody>
          </p:sp>
        </p:grpSp>
      </p:grpSp>
      <p:grpSp>
        <p:nvGrpSpPr>
          <p:cNvPr id="17" name="Group 16">
            <a:extLst>
              <a:ext uri="{FF2B5EF4-FFF2-40B4-BE49-F238E27FC236}">
                <a16:creationId xmlns:a16="http://schemas.microsoft.com/office/drawing/2014/main" id="{F8D7EC14-C061-31D4-D3D8-C986A5A73A05}"/>
              </a:ext>
            </a:extLst>
          </p:cNvPr>
          <p:cNvGrpSpPr/>
          <p:nvPr/>
        </p:nvGrpSpPr>
        <p:grpSpPr>
          <a:xfrm>
            <a:off x="759317" y="1891686"/>
            <a:ext cx="22808606" cy="11419843"/>
            <a:chOff x="759317" y="1891686"/>
            <a:chExt cx="22808606" cy="11419843"/>
          </a:xfrm>
        </p:grpSpPr>
        <p:sp>
          <p:nvSpPr>
            <p:cNvPr id="6" name="Meanwhile scientists are doing things differently">
              <a:extLst>
                <a:ext uri="{FF2B5EF4-FFF2-40B4-BE49-F238E27FC236}">
                  <a16:creationId xmlns:a16="http://schemas.microsoft.com/office/drawing/2014/main" id="{123CB947-3B87-5E66-58E6-44607599AFC3}"/>
                </a:ext>
              </a:extLst>
            </p:cNvPr>
            <p:cNvSpPr txBox="1"/>
            <p:nvPr/>
          </p:nvSpPr>
          <p:spPr>
            <a:xfrm>
              <a:off x="15241839" y="10304014"/>
              <a:ext cx="5896303" cy="17645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5400" b="0">
                  <a:solidFill>
                    <a:srgbClr val="B42B36"/>
                  </a:solidFill>
                </a:defRPr>
              </a:lvl1pPr>
            </a:lstStyle>
            <a:p>
              <a:r>
                <a:rPr lang="en-US" dirty="0">
                  <a:solidFill>
                    <a:schemeClr val="tx1"/>
                  </a:solidFill>
                </a:rPr>
                <a:t>Some random chosen genes</a:t>
              </a:r>
              <a:endParaRPr dirty="0">
                <a:solidFill>
                  <a:schemeClr val="tx1"/>
                </a:solidFill>
              </a:endParaRPr>
            </a:p>
          </p:txBody>
        </p:sp>
        <p:cxnSp>
          <p:nvCxnSpPr>
            <p:cNvPr id="10" name="Straight Connector 9">
              <a:extLst>
                <a:ext uri="{FF2B5EF4-FFF2-40B4-BE49-F238E27FC236}">
                  <a16:creationId xmlns:a16="http://schemas.microsoft.com/office/drawing/2014/main" id="{40A8381B-0AF0-36FE-68A1-13E98D4479FC}"/>
                </a:ext>
              </a:extLst>
            </p:cNvPr>
            <p:cNvCxnSpPr>
              <a:cxnSpLocks/>
            </p:cNvCxnSpPr>
            <p:nvPr/>
          </p:nvCxnSpPr>
          <p:spPr>
            <a:xfrm flipH="1">
              <a:off x="759317" y="6367521"/>
              <a:ext cx="2280860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 name="Straight Connector 13">
              <a:extLst>
                <a:ext uri="{FF2B5EF4-FFF2-40B4-BE49-F238E27FC236}">
                  <a16:creationId xmlns:a16="http://schemas.microsoft.com/office/drawing/2014/main" id="{EBC7B3EB-5ED7-8AD2-BC0C-5696B5C089BD}"/>
                </a:ext>
              </a:extLst>
            </p:cNvPr>
            <p:cNvCxnSpPr>
              <a:cxnSpLocks/>
            </p:cNvCxnSpPr>
            <p:nvPr/>
          </p:nvCxnSpPr>
          <p:spPr>
            <a:xfrm flipV="1">
              <a:off x="14335432" y="1891686"/>
              <a:ext cx="0" cy="1141984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33743441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DB52AE-FAC5-E267-F9BB-186BAA5F8172}"/>
              </a:ext>
            </a:extLst>
          </p:cNvPr>
          <p:cNvSpPr>
            <a:spLocks noGrp="1"/>
          </p:cNvSpPr>
          <p:nvPr>
            <p:ph type="sldNum" sz="quarter" idx="2"/>
          </p:nvPr>
        </p:nvSpPr>
        <p:spPr/>
        <p:txBody>
          <a:bodyPr/>
          <a:lstStyle/>
          <a:p>
            <a:fld id="{86CB4B4D-7CA3-9044-876B-883B54F8677D}" type="slidenum">
              <a:rPr lang="en-US" smtClean="0"/>
              <a:t>8</a:t>
            </a:fld>
            <a:endParaRPr lang="en-US"/>
          </a:p>
        </p:txBody>
      </p:sp>
      <p:grpSp>
        <p:nvGrpSpPr>
          <p:cNvPr id="25" name="Group 24">
            <a:extLst>
              <a:ext uri="{FF2B5EF4-FFF2-40B4-BE49-F238E27FC236}">
                <a16:creationId xmlns:a16="http://schemas.microsoft.com/office/drawing/2014/main" id="{C207412E-4B3A-825F-644A-DA527DC2B026}"/>
              </a:ext>
            </a:extLst>
          </p:cNvPr>
          <p:cNvGrpSpPr/>
          <p:nvPr/>
        </p:nvGrpSpPr>
        <p:grpSpPr>
          <a:xfrm>
            <a:off x="7375499" y="1362329"/>
            <a:ext cx="15356574" cy="12353671"/>
            <a:chOff x="8184658" y="957858"/>
            <a:chExt cx="15356574" cy="12353671"/>
          </a:xfrm>
        </p:grpSpPr>
        <p:grpSp>
          <p:nvGrpSpPr>
            <p:cNvPr id="18" name="Group 17">
              <a:extLst>
                <a:ext uri="{FF2B5EF4-FFF2-40B4-BE49-F238E27FC236}">
                  <a16:creationId xmlns:a16="http://schemas.microsoft.com/office/drawing/2014/main" id="{35B46AE1-B6F3-749B-3D16-762E0554ECBF}"/>
                </a:ext>
              </a:extLst>
            </p:cNvPr>
            <p:cNvGrpSpPr/>
            <p:nvPr/>
          </p:nvGrpSpPr>
          <p:grpSpPr>
            <a:xfrm>
              <a:off x="8184658" y="957858"/>
              <a:ext cx="11913583" cy="12353671"/>
              <a:chOff x="6228858" y="1188388"/>
              <a:chExt cx="11913583" cy="12353671"/>
            </a:xfrm>
          </p:grpSpPr>
          <p:grpSp>
            <p:nvGrpSpPr>
              <p:cNvPr id="16" name="Group 15">
                <a:extLst>
                  <a:ext uri="{FF2B5EF4-FFF2-40B4-BE49-F238E27FC236}">
                    <a16:creationId xmlns:a16="http://schemas.microsoft.com/office/drawing/2014/main" id="{C8223249-8A16-8A09-228C-8FB13F188993}"/>
                  </a:ext>
                </a:extLst>
              </p:cNvPr>
              <p:cNvGrpSpPr/>
              <p:nvPr/>
            </p:nvGrpSpPr>
            <p:grpSpPr>
              <a:xfrm>
                <a:off x="6228858" y="1188388"/>
                <a:ext cx="11913583" cy="12353671"/>
                <a:chOff x="5910943" y="620486"/>
                <a:chExt cx="11913583" cy="12353671"/>
              </a:xfrm>
            </p:grpSpPr>
            <p:grpSp>
              <p:nvGrpSpPr>
                <p:cNvPr id="6" name="Group 5">
                  <a:extLst>
                    <a:ext uri="{FF2B5EF4-FFF2-40B4-BE49-F238E27FC236}">
                      <a16:creationId xmlns:a16="http://schemas.microsoft.com/office/drawing/2014/main" id="{2F641FFD-A50B-5D02-74D1-0B852CEFEB9D}"/>
                    </a:ext>
                  </a:extLst>
                </p:cNvPr>
                <p:cNvGrpSpPr/>
                <p:nvPr/>
              </p:nvGrpSpPr>
              <p:grpSpPr>
                <a:xfrm>
                  <a:off x="6093536" y="741843"/>
                  <a:ext cx="11730990" cy="12232314"/>
                  <a:chOff x="5321390" y="-3079042"/>
                  <a:chExt cx="11730990" cy="12232314"/>
                </a:xfrm>
              </p:grpSpPr>
              <p:pic>
                <p:nvPicPr>
                  <p:cNvPr id="4" name="Picture 3" descr="A diagram of a group and control&#10;&#10;Description automatically generated">
                    <a:extLst>
                      <a:ext uri="{FF2B5EF4-FFF2-40B4-BE49-F238E27FC236}">
                        <a16:creationId xmlns:a16="http://schemas.microsoft.com/office/drawing/2014/main" id="{FB01835E-84E1-0FA1-C41A-6E7A7DB4AA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390" y="-3079042"/>
                    <a:ext cx="11730990" cy="12232314"/>
                  </a:xfrm>
                  <a:prstGeom prst="rect">
                    <a:avLst/>
                  </a:prstGeom>
                </p:spPr>
              </p:pic>
              <p:sp>
                <p:nvSpPr>
                  <p:cNvPr id="5" name="Rectangle 4">
                    <a:extLst>
                      <a:ext uri="{FF2B5EF4-FFF2-40B4-BE49-F238E27FC236}">
                        <a16:creationId xmlns:a16="http://schemas.microsoft.com/office/drawing/2014/main" id="{ACCD59C9-4650-906C-DF88-8D6CC6F3830B}"/>
                      </a:ext>
                    </a:extLst>
                  </p:cNvPr>
                  <p:cNvSpPr/>
                  <p:nvPr/>
                </p:nvSpPr>
                <p:spPr>
                  <a:xfrm>
                    <a:off x="6792686" y="741843"/>
                    <a:ext cx="653143" cy="53178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5" name="Rectangle 14">
                  <a:extLst>
                    <a:ext uri="{FF2B5EF4-FFF2-40B4-BE49-F238E27FC236}">
                      <a16:creationId xmlns:a16="http://schemas.microsoft.com/office/drawing/2014/main" id="{7C005942-B802-8FA3-B655-1409FBE301FC}"/>
                    </a:ext>
                  </a:extLst>
                </p:cNvPr>
                <p:cNvSpPr/>
                <p:nvPr/>
              </p:nvSpPr>
              <p:spPr>
                <a:xfrm>
                  <a:off x="5910943" y="620486"/>
                  <a:ext cx="1208314" cy="81642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7" name="Rectangle 16">
                <a:extLst>
                  <a:ext uri="{FF2B5EF4-FFF2-40B4-BE49-F238E27FC236}">
                    <a16:creationId xmlns:a16="http://schemas.microsoft.com/office/drawing/2014/main" id="{633A0DB7-4663-2F8D-77AD-7AA19F62B078}"/>
                  </a:ext>
                </a:extLst>
              </p:cNvPr>
              <p:cNvSpPr/>
              <p:nvPr/>
            </p:nvSpPr>
            <p:spPr>
              <a:xfrm>
                <a:off x="9956800" y="12877024"/>
                <a:ext cx="6096000" cy="66503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pic>
          <p:nvPicPr>
            <p:cNvPr id="20" name="Picture 19" descr="A yellow circle on a white background&#10;&#10;Description automatically generated">
              <a:extLst>
                <a:ext uri="{FF2B5EF4-FFF2-40B4-BE49-F238E27FC236}">
                  <a16:creationId xmlns:a16="http://schemas.microsoft.com/office/drawing/2014/main" id="{9915B798-B38A-A5F2-D458-76ED38D189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86041" y="4970689"/>
              <a:ext cx="1083496" cy="1166048"/>
            </a:xfrm>
            <a:prstGeom prst="rect">
              <a:avLst/>
            </a:prstGeom>
          </p:spPr>
        </p:pic>
        <p:pic>
          <p:nvPicPr>
            <p:cNvPr id="22" name="Picture 21" descr="A blue triangle on a white background&#10;&#10;Description automatically generated">
              <a:extLst>
                <a:ext uri="{FF2B5EF4-FFF2-40B4-BE49-F238E27FC236}">
                  <a16:creationId xmlns:a16="http://schemas.microsoft.com/office/drawing/2014/main" id="{4E7BBD34-AE07-93B5-2D0D-96AF55DC12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80834" y="3405952"/>
              <a:ext cx="1207693" cy="1166048"/>
            </a:xfrm>
            <a:prstGeom prst="rect">
              <a:avLst/>
            </a:prstGeom>
          </p:spPr>
        </p:pic>
        <p:sp>
          <p:nvSpPr>
            <p:cNvPr id="23" name="TextBox 22">
              <a:extLst>
                <a:ext uri="{FF2B5EF4-FFF2-40B4-BE49-F238E27FC236}">
                  <a16:creationId xmlns:a16="http://schemas.microsoft.com/office/drawing/2014/main" id="{0E80CC8C-3164-F1A6-F385-ABD1FD029E40}"/>
                </a:ext>
              </a:extLst>
            </p:cNvPr>
            <p:cNvSpPr txBox="1"/>
            <p:nvPr/>
          </p:nvSpPr>
          <p:spPr>
            <a:xfrm>
              <a:off x="21671120" y="3622209"/>
              <a:ext cx="137698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Case</a:t>
              </a:r>
            </a:p>
          </p:txBody>
        </p:sp>
        <p:sp>
          <p:nvSpPr>
            <p:cNvPr id="24" name="TextBox 23">
              <a:extLst>
                <a:ext uri="{FF2B5EF4-FFF2-40B4-BE49-F238E27FC236}">
                  <a16:creationId xmlns:a16="http://schemas.microsoft.com/office/drawing/2014/main" id="{0E68B1B8-72AD-62B6-9F56-7D08ABC74E85}"/>
                </a:ext>
              </a:extLst>
            </p:cNvPr>
            <p:cNvSpPr txBox="1"/>
            <p:nvPr/>
          </p:nvSpPr>
          <p:spPr>
            <a:xfrm>
              <a:off x="21569537" y="5004706"/>
              <a:ext cx="197169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Control</a:t>
              </a:r>
            </a:p>
          </p:txBody>
        </p:sp>
      </p:grpSp>
      <p:sp>
        <p:nvSpPr>
          <p:cNvPr id="3" name="Meanwhile scientists are doing things differently">
            <a:extLst>
              <a:ext uri="{FF2B5EF4-FFF2-40B4-BE49-F238E27FC236}">
                <a16:creationId xmlns:a16="http://schemas.microsoft.com/office/drawing/2014/main" id="{6C55FC38-9354-8C10-229B-9F2B555F4A6D}"/>
              </a:ext>
            </a:extLst>
          </p:cNvPr>
          <p:cNvSpPr txBox="1"/>
          <p:nvPr/>
        </p:nvSpPr>
        <p:spPr>
          <a:xfrm>
            <a:off x="1813136" y="428740"/>
            <a:ext cx="8539197"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b="1" dirty="0">
                <a:solidFill>
                  <a:schemeClr val="tx1"/>
                </a:solidFill>
              </a:rPr>
              <a:t>And, the “PC score” plots</a:t>
            </a:r>
            <a:endParaRPr b="1" dirty="0">
              <a:solidFill>
                <a:schemeClr val="tx1"/>
              </a:solidFill>
            </a:endParaRPr>
          </a:p>
        </p:txBody>
      </p:sp>
      <p:grpSp>
        <p:nvGrpSpPr>
          <p:cNvPr id="10" name="Group 9">
            <a:extLst>
              <a:ext uri="{FF2B5EF4-FFF2-40B4-BE49-F238E27FC236}">
                <a16:creationId xmlns:a16="http://schemas.microsoft.com/office/drawing/2014/main" id="{391F709A-DA08-BE22-5DBC-2BD5ECADA5F2}"/>
              </a:ext>
            </a:extLst>
          </p:cNvPr>
          <p:cNvGrpSpPr/>
          <p:nvPr/>
        </p:nvGrpSpPr>
        <p:grpSpPr>
          <a:xfrm>
            <a:off x="888731" y="598456"/>
            <a:ext cx="20412111" cy="7851937"/>
            <a:chOff x="888731" y="598456"/>
            <a:chExt cx="20412111" cy="7851937"/>
          </a:xfrm>
        </p:grpSpPr>
        <p:pic>
          <p:nvPicPr>
            <p:cNvPr id="7" name="Picture 6">
              <a:extLst>
                <a:ext uri="{FF2B5EF4-FFF2-40B4-BE49-F238E27FC236}">
                  <a16:creationId xmlns:a16="http://schemas.microsoft.com/office/drawing/2014/main" id="{AA834AD5-0621-E5E7-A4B4-89511720E2CB}"/>
                </a:ext>
              </a:extLst>
            </p:cNvPr>
            <p:cNvPicPr>
              <a:picLocks noChangeAspect="1"/>
            </p:cNvPicPr>
            <p:nvPr/>
          </p:nvPicPr>
          <p:blipFill>
            <a:blip r:embed="rId6"/>
            <a:stretch>
              <a:fillRect/>
            </a:stretch>
          </p:blipFill>
          <p:spPr>
            <a:xfrm>
              <a:off x="888731" y="4449595"/>
              <a:ext cx="6271394" cy="630239"/>
            </a:xfrm>
            <a:prstGeom prst="rect">
              <a:avLst/>
            </a:prstGeom>
          </p:spPr>
        </p:pic>
        <p:sp>
          <p:nvSpPr>
            <p:cNvPr id="8" name="Rounded Rectangle 7">
              <a:extLst>
                <a:ext uri="{FF2B5EF4-FFF2-40B4-BE49-F238E27FC236}">
                  <a16:creationId xmlns:a16="http://schemas.microsoft.com/office/drawing/2014/main" id="{96B46E2F-84A9-6FEF-2E87-3D53F8AEC922}"/>
                </a:ext>
              </a:extLst>
            </p:cNvPr>
            <p:cNvSpPr/>
            <p:nvPr/>
          </p:nvSpPr>
          <p:spPr>
            <a:xfrm>
              <a:off x="7811423" y="5825449"/>
              <a:ext cx="967946" cy="1539256"/>
            </a:xfrm>
            <a:prstGeom prst="roundRect">
              <a:avLst/>
            </a:prstGeom>
            <a:noFill/>
            <a:ln w="920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9" name="Straight Arrow Connector 8">
              <a:extLst>
                <a:ext uri="{FF2B5EF4-FFF2-40B4-BE49-F238E27FC236}">
                  <a16:creationId xmlns:a16="http://schemas.microsoft.com/office/drawing/2014/main" id="{92DCC9D9-EFFE-56F9-286B-13A3DEF67D76}"/>
                </a:ext>
              </a:extLst>
            </p:cNvPr>
            <p:cNvCxnSpPr>
              <a:cxnSpLocks/>
            </p:cNvCxnSpPr>
            <p:nvPr/>
          </p:nvCxnSpPr>
          <p:spPr>
            <a:xfrm>
              <a:off x="16273472" y="3076954"/>
              <a:ext cx="2193507" cy="0"/>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 name="Straight Arrow Connector 10">
              <a:extLst>
                <a:ext uri="{FF2B5EF4-FFF2-40B4-BE49-F238E27FC236}">
                  <a16:creationId xmlns:a16="http://schemas.microsoft.com/office/drawing/2014/main" id="{EC951001-4F07-94DF-989B-7A4A4B16FDF2}"/>
                </a:ext>
              </a:extLst>
            </p:cNvPr>
            <p:cNvCxnSpPr>
              <a:cxnSpLocks/>
            </p:cNvCxnSpPr>
            <p:nvPr/>
          </p:nvCxnSpPr>
          <p:spPr>
            <a:xfrm flipV="1">
              <a:off x="16273472" y="1362329"/>
              <a:ext cx="0" cy="1714625"/>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4" name="TextBox 13">
              <a:extLst>
                <a:ext uri="{FF2B5EF4-FFF2-40B4-BE49-F238E27FC236}">
                  <a16:creationId xmlns:a16="http://schemas.microsoft.com/office/drawing/2014/main" id="{66465202-D0F6-2CED-94A7-C061C08A5BC8}"/>
                </a:ext>
              </a:extLst>
            </p:cNvPr>
            <p:cNvSpPr txBox="1"/>
            <p:nvPr/>
          </p:nvSpPr>
          <p:spPr>
            <a:xfrm>
              <a:off x="17801486" y="2282742"/>
              <a:ext cx="349935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PC1 direction</a:t>
              </a:r>
            </a:p>
          </p:txBody>
        </p:sp>
        <p:sp>
          <p:nvSpPr>
            <p:cNvPr id="19" name="TextBox 18">
              <a:extLst>
                <a:ext uri="{FF2B5EF4-FFF2-40B4-BE49-F238E27FC236}">
                  <a16:creationId xmlns:a16="http://schemas.microsoft.com/office/drawing/2014/main" id="{238FFCF3-10EE-EEB2-5CC2-447219AEFD67}"/>
                </a:ext>
              </a:extLst>
            </p:cNvPr>
            <p:cNvSpPr txBox="1"/>
            <p:nvPr/>
          </p:nvSpPr>
          <p:spPr>
            <a:xfrm>
              <a:off x="15706009" y="598456"/>
              <a:ext cx="113492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PC4</a:t>
              </a:r>
            </a:p>
          </p:txBody>
        </p:sp>
        <p:sp>
          <p:nvSpPr>
            <p:cNvPr id="21" name="TextBox 20">
              <a:extLst>
                <a:ext uri="{FF2B5EF4-FFF2-40B4-BE49-F238E27FC236}">
                  <a16:creationId xmlns:a16="http://schemas.microsoft.com/office/drawing/2014/main" id="{CA8388AC-C1C8-484B-EE5C-66D4A79DA408}"/>
                </a:ext>
              </a:extLst>
            </p:cNvPr>
            <p:cNvSpPr txBox="1"/>
            <p:nvPr/>
          </p:nvSpPr>
          <p:spPr>
            <a:xfrm>
              <a:off x="1086442" y="6454975"/>
              <a:ext cx="5268886" cy="19954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Project </a:t>
              </a:r>
              <a:r>
                <a:rPr lang="en-US" dirty="0"/>
                <a:t>cell’s expression onto PC directions</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grpSp>
    </p:spTree>
    <p:extLst>
      <p:ext uri="{BB962C8B-B14F-4D97-AF65-F5344CB8AC3E}">
        <p14:creationId xmlns:p14="http://schemas.microsoft.com/office/powerpoint/2010/main" val="44409216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E85A68-0EFE-DD1F-041C-39F804282C94}"/>
              </a:ext>
            </a:extLst>
          </p:cNvPr>
          <p:cNvSpPr>
            <a:spLocks noGrp="1"/>
          </p:cNvSpPr>
          <p:nvPr>
            <p:ph type="sldNum" sz="quarter" idx="2"/>
          </p:nvPr>
        </p:nvSpPr>
        <p:spPr/>
        <p:txBody>
          <a:bodyPr/>
          <a:lstStyle/>
          <a:p>
            <a:fld id="{86CB4B4D-7CA3-9044-876B-883B54F8677D}" type="slidenum">
              <a:rPr lang="en-US" smtClean="0"/>
              <a:t>9</a:t>
            </a:fld>
            <a:endParaRPr lang="en-US"/>
          </a:p>
        </p:txBody>
      </p:sp>
      <p:sp>
        <p:nvSpPr>
          <p:cNvPr id="3" name="TextBox 2">
            <a:extLst>
              <a:ext uri="{FF2B5EF4-FFF2-40B4-BE49-F238E27FC236}">
                <a16:creationId xmlns:a16="http://schemas.microsoft.com/office/drawing/2014/main" id="{E8D61A09-31B7-B1A9-8EF6-BFA0C3DCE4FF}"/>
              </a:ext>
            </a:extLst>
          </p:cNvPr>
          <p:cNvSpPr txBox="1"/>
          <p:nvPr/>
        </p:nvSpPr>
        <p:spPr>
          <a:xfrm>
            <a:off x="4959115" y="5932108"/>
            <a:ext cx="14906325"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6600" b="1" i="0" u="none" strike="noStrike" cap="none" spc="0" normalizeH="0" baseline="0" dirty="0">
                <a:ln>
                  <a:noFill/>
                </a:ln>
                <a:solidFill>
                  <a:srgbClr val="C00000"/>
                </a:solidFill>
                <a:effectLst/>
                <a:uFillTx/>
                <a:latin typeface="Helvetica Neue"/>
                <a:ea typeface="Helvetica Neue"/>
                <a:cs typeface="Helvetica Neue"/>
                <a:sym typeface="Helvetica Neue"/>
              </a:rPr>
              <a:t>Overview of the proposed procedure</a:t>
            </a:r>
          </a:p>
        </p:txBody>
      </p:sp>
    </p:spTree>
    <p:extLst>
      <p:ext uri="{BB962C8B-B14F-4D97-AF65-F5344CB8AC3E}">
        <p14:creationId xmlns:p14="http://schemas.microsoft.com/office/powerpoint/2010/main" val="161394085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3" name="Image" descr="Image"/>
          <p:cNvPicPr>
            <a:picLocks noChangeAspect="1"/>
          </p:cNvPicPr>
          <p:nvPr/>
        </p:nvPicPr>
        <p:blipFill>
          <a:blip r:embed="rId3"/>
          <a:stretch>
            <a:fillRect/>
          </a:stretch>
        </p:blipFill>
        <p:spPr>
          <a:xfrm>
            <a:off x="2341734" y="3657611"/>
            <a:ext cx="736601" cy="596901"/>
          </a:xfrm>
          <a:prstGeom prst="rect">
            <a:avLst/>
          </a:prstGeom>
          <a:ln w="12700">
            <a:miter lim="400000"/>
          </a:ln>
        </p:spPr>
      </p:pic>
      <p:pic>
        <p:nvPicPr>
          <p:cNvPr id="274" name="Image" descr="Image"/>
          <p:cNvPicPr>
            <a:picLocks noChangeAspect="1"/>
          </p:cNvPicPr>
          <p:nvPr/>
        </p:nvPicPr>
        <p:blipFill>
          <a:blip r:embed="rId4"/>
          <a:stretch>
            <a:fillRect/>
          </a:stretch>
        </p:blipFill>
        <p:spPr>
          <a:xfrm>
            <a:off x="4788700" y="3606811"/>
            <a:ext cx="660401" cy="698501"/>
          </a:xfrm>
          <a:prstGeom prst="rect">
            <a:avLst/>
          </a:prstGeom>
          <a:ln w="12700">
            <a:miter lim="400000"/>
          </a:ln>
        </p:spPr>
      </p:pic>
      <p:pic>
        <p:nvPicPr>
          <p:cNvPr id="276" name="Image" descr="Image"/>
          <p:cNvPicPr>
            <a:picLocks noChangeAspect="1"/>
          </p:cNvPicPr>
          <p:nvPr/>
        </p:nvPicPr>
        <p:blipFill>
          <a:blip r:embed="rId5"/>
          <a:stretch>
            <a:fillRect/>
          </a:stretch>
        </p:blipFill>
        <p:spPr>
          <a:xfrm>
            <a:off x="7539528" y="3321853"/>
            <a:ext cx="1219201" cy="571501"/>
          </a:xfrm>
          <a:prstGeom prst="rect">
            <a:avLst/>
          </a:prstGeom>
          <a:ln w="12700">
            <a:miter lim="400000"/>
          </a:ln>
        </p:spPr>
      </p:pic>
      <p:pic>
        <p:nvPicPr>
          <p:cNvPr id="277" name="Image" descr="Image"/>
          <p:cNvPicPr>
            <a:picLocks noChangeAspect="1"/>
          </p:cNvPicPr>
          <p:nvPr/>
        </p:nvPicPr>
        <p:blipFill>
          <a:blip r:embed="rId6"/>
          <a:stretch>
            <a:fillRect/>
          </a:stretch>
        </p:blipFill>
        <p:spPr>
          <a:xfrm>
            <a:off x="8252841" y="4658247"/>
            <a:ext cx="1727201" cy="927101"/>
          </a:xfrm>
          <a:prstGeom prst="rect">
            <a:avLst/>
          </a:prstGeom>
          <a:ln w="12700">
            <a:miter lim="400000"/>
          </a:ln>
        </p:spPr>
      </p:pic>
      <p:pic>
        <p:nvPicPr>
          <p:cNvPr id="272" name="Image" descr="Image"/>
          <p:cNvPicPr>
            <a:picLocks noChangeAspect="1"/>
          </p:cNvPicPr>
          <p:nvPr/>
        </p:nvPicPr>
        <p:blipFill>
          <a:blip r:embed="rId7"/>
          <a:stretch>
            <a:fillRect/>
          </a:stretch>
        </p:blipFill>
        <p:spPr>
          <a:xfrm>
            <a:off x="1430713" y="1477476"/>
            <a:ext cx="11481713" cy="4957171"/>
          </a:xfrm>
          <a:prstGeom prst="rect">
            <a:avLst/>
          </a:prstGeom>
          <a:ln w="12700">
            <a:miter lim="400000"/>
          </a:ln>
        </p:spPr>
      </p:pic>
      <p:pic>
        <p:nvPicPr>
          <p:cNvPr id="275" name="Image" descr="Image"/>
          <p:cNvPicPr>
            <a:picLocks noChangeAspect="1"/>
          </p:cNvPicPr>
          <p:nvPr/>
        </p:nvPicPr>
        <p:blipFill>
          <a:blip r:embed="rId8"/>
          <a:stretch>
            <a:fillRect/>
          </a:stretch>
        </p:blipFill>
        <p:spPr>
          <a:xfrm>
            <a:off x="7539528" y="768372"/>
            <a:ext cx="1219201" cy="571501"/>
          </a:xfrm>
          <a:prstGeom prst="rect">
            <a:avLst/>
          </a:prstGeom>
          <a:ln w="12700">
            <a:miter lim="400000"/>
          </a:ln>
        </p:spPr>
      </p:pic>
      <p:pic>
        <p:nvPicPr>
          <p:cNvPr id="278" name="Image" descr="Image"/>
          <p:cNvPicPr>
            <a:picLocks noChangeAspect="1"/>
          </p:cNvPicPr>
          <p:nvPr/>
        </p:nvPicPr>
        <p:blipFill>
          <a:blip r:embed="rId9"/>
          <a:stretch>
            <a:fillRect/>
          </a:stretch>
        </p:blipFill>
        <p:spPr>
          <a:xfrm>
            <a:off x="8481441" y="1759294"/>
            <a:ext cx="1270001" cy="927101"/>
          </a:xfrm>
          <a:prstGeom prst="rect">
            <a:avLst/>
          </a:prstGeom>
          <a:ln w="12700">
            <a:miter lim="400000"/>
          </a:ln>
        </p:spPr>
      </p:pic>
      <p:pic>
        <p:nvPicPr>
          <p:cNvPr id="279" name="Image" descr="Image"/>
          <p:cNvPicPr>
            <a:picLocks noChangeAspect="1"/>
          </p:cNvPicPr>
          <p:nvPr/>
        </p:nvPicPr>
        <p:blipFill>
          <a:blip r:embed="rId10"/>
          <a:stretch>
            <a:fillRect/>
          </a:stretch>
        </p:blipFill>
        <p:spPr>
          <a:xfrm>
            <a:off x="11121077" y="1708494"/>
            <a:ext cx="1155701" cy="1028701"/>
          </a:xfrm>
          <a:prstGeom prst="rect">
            <a:avLst/>
          </a:prstGeom>
          <a:ln w="12700">
            <a:miter lim="400000"/>
          </a:ln>
        </p:spPr>
      </p:pic>
      <p:pic>
        <p:nvPicPr>
          <p:cNvPr id="280" name="Image" descr="Image"/>
          <p:cNvPicPr>
            <a:picLocks noChangeAspect="1"/>
          </p:cNvPicPr>
          <p:nvPr/>
        </p:nvPicPr>
        <p:blipFill>
          <a:blip r:embed="rId11"/>
          <a:stretch>
            <a:fillRect/>
          </a:stretch>
        </p:blipFill>
        <p:spPr>
          <a:xfrm>
            <a:off x="10905177" y="4607447"/>
            <a:ext cx="1587501" cy="1028701"/>
          </a:xfrm>
          <a:prstGeom prst="rect">
            <a:avLst/>
          </a:prstGeom>
          <a:ln w="12700">
            <a:miter lim="400000"/>
          </a:ln>
        </p:spPr>
      </p:pic>
      <p:pic>
        <p:nvPicPr>
          <p:cNvPr id="281" name="Image" descr="Image"/>
          <p:cNvPicPr>
            <a:picLocks noChangeAspect="1"/>
          </p:cNvPicPr>
          <p:nvPr/>
        </p:nvPicPr>
        <p:blipFill>
          <a:blip r:embed="rId12"/>
          <a:stretch>
            <a:fillRect/>
          </a:stretch>
        </p:blipFill>
        <p:spPr>
          <a:xfrm>
            <a:off x="14363251" y="1752944"/>
            <a:ext cx="2552701" cy="939801"/>
          </a:xfrm>
          <a:prstGeom prst="rect">
            <a:avLst/>
          </a:prstGeom>
          <a:ln w="12700">
            <a:miter lim="400000"/>
          </a:ln>
        </p:spPr>
      </p:pic>
      <p:pic>
        <p:nvPicPr>
          <p:cNvPr id="282" name="Image" descr="Image"/>
          <p:cNvPicPr>
            <a:picLocks noChangeAspect="1"/>
          </p:cNvPicPr>
          <p:nvPr/>
        </p:nvPicPr>
        <p:blipFill>
          <a:blip r:embed="rId13"/>
          <a:stretch>
            <a:fillRect/>
          </a:stretch>
        </p:blipFill>
        <p:spPr>
          <a:xfrm>
            <a:off x="14915701" y="4785247"/>
            <a:ext cx="1447801" cy="673101"/>
          </a:xfrm>
          <a:prstGeom prst="rect">
            <a:avLst/>
          </a:prstGeom>
          <a:ln w="12700">
            <a:miter lim="400000"/>
          </a:ln>
        </p:spPr>
      </p:pic>
      <p:pic>
        <p:nvPicPr>
          <p:cNvPr id="283" name="Image" descr="Image"/>
          <p:cNvPicPr>
            <a:picLocks noChangeAspect="1"/>
          </p:cNvPicPr>
          <p:nvPr/>
        </p:nvPicPr>
        <p:blipFill>
          <a:blip r:embed="rId14"/>
          <a:stretch>
            <a:fillRect/>
          </a:stretch>
        </p:blipFill>
        <p:spPr>
          <a:xfrm>
            <a:off x="19421037" y="3086903"/>
            <a:ext cx="2057401" cy="1041401"/>
          </a:xfrm>
          <a:prstGeom prst="rect">
            <a:avLst/>
          </a:prstGeom>
          <a:ln w="12700">
            <a:miter lim="400000"/>
          </a:ln>
        </p:spPr>
      </p:pic>
      <p:sp>
        <p:nvSpPr>
          <p:cNvPr id="289" name="Line"/>
          <p:cNvSpPr/>
          <p:nvPr/>
        </p:nvSpPr>
        <p:spPr>
          <a:xfrm flipV="1">
            <a:off x="6735549" y="2399475"/>
            <a:ext cx="702586" cy="1510422"/>
          </a:xfrm>
          <a:prstGeom prst="line">
            <a:avLst/>
          </a:prstGeom>
          <a:ln w="76200">
            <a:solidFill>
              <a:srgbClr val="000000"/>
            </a:solidFill>
            <a:miter lim="400000"/>
            <a:tailEnd type="triangle"/>
          </a:ln>
        </p:spPr>
        <p:txBody>
          <a:bodyPr lIns="50800" tIns="50800" rIns="50800" bIns="50800" anchor="ctr"/>
          <a:lstStyle/>
          <a:p>
            <a:endParaRPr/>
          </a:p>
        </p:txBody>
      </p:sp>
      <p:sp>
        <p:nvSpPr>
          <p:cNvPr id="290" name="Line"/>
          <p:cNvSpPr/>
          <p:nvPr/>
        </p:nvSpPr>
        <p:spPr>
          <a:xfrm>
            <a:off x="6746507" y="3912035"/>
            <a:ext cx="667843" cy="1735512"/>
          </a:xfrm>
          <a:prstGeom prst="line">
            <a:avLst/>
          </a:prstGeom>
          <a:ln w="76200">
            <a:solidFill>
              <a:srgbClr val="000000"/>
            </a:solidFill>
            <a:miter lim="400000"/>
            <a:tailEnd type="triangle"/>
          </a:ln>
        </p:spPr>
        <p:txBody>
          <a:bodyPr lIns="50800" tIns="50800" rIns="50800" bIns="50800" anchor="ctr"/>
          <a:lstStyle/>
          <a:p>
            <a:endParaRPr/>
          </a:p>
        </p:txBody>
      </p:sp>
      <p:sp>
        <p:nvSpPr>
          <p:cNvPr id="291" name="Line"/>
          <p:cNvSpPr/>
          <p:nvPr/>
        </p:nvSpPr>
        <p:spPr>
          <a:xfrm>
            <a:off x="13120881" y="2333516"/>
            <a:ext cx="833657" cy="1"/>
          </a:xfrm>
          <a:prstGeom prst="line">
            <a:avLst/>
          </a:prstGeom>
          <a:ln w="76200">
            <a:solidFill>
              <a:srgbClr val="000000"/>
            </a:solidFill>
            <a:miter lim="400000"/>
            <a:tailEnd type="triangle"/>
          </a:ln>
        </p:spPr>
        <p:txBody>
          <a:bodyPr lIns="50800" tIns="50800" rIns="50800" bIns="50800" anchor="ctr"/>
          <a:lstStyle/>
          <a:p>
            <a:endParaRPr/>
          </a:p>
        </p:txBody>
      </p:sp>
      <p:sp>
        <p:nvSpPr>
          <p:cNvPr id="292" name="Line"/>
          <p:cNvSpPr/>
          <p:nvPr/>
        </p:nvSpPr>
        <p:spPr>
          <a:xfrm>
            <a:off x="13417813" y="5121797"/>
            <a:ext cx="833658" cy="1"/>
          </a:xfrm>
          <a:prstGeom prst="line">
            <a:avLst/>
          </a:prstGeom>
          <a:ln w="76200">
            <a:solidFill>
              <a:srgbClr val="000000"/>
            </a:solidFill>
            <a:miter lim="400000"/>
            <a:tailEnd type="triangle"/>
          </a:ln>
        </p:spPr>
        <p:txBody>
          <a:bodyPr lIns="50800" tIns="50800" rIns="50800" bIns="50800" anchor="ctr"/>
          <a:lstStyle/>
          <a:p>
            <a:endParaRPr/>
          </a:p>
        </p:txBody>
      </p:sp>
      <p:sp>
        <p:nvSpPr>
          <p:cNvPr id="293" name="Line"/>
          <p:cNvSpPr/>
          <p:nvPr/>
        </p:nvSpPr>
        <p:spPr>
          <a:xfrm>
            <a:off x="17097986" y="2333516"/>
            <a:ext cx="1704173" cy="1340819"/>
          </a:xfrm>
          <a:prstGeom prst="line">
            <a:avLst/>
          </a:prstGeom>
          <a:ln w="76200">
            <a:solidFill>
              <a:srgbClr val="000000"/>
            </a:solidFill>
            <a:miter lim="400000"/>
            <a:tailEnd type="triangle"/>
          </a:ln>
        </p:spPr>
        <p:txBody>
          <a:bodyPr lIns="50800" tIns="50800" rIns="50800" bIns="50800" anchor="ctr"/>
          <a:lstStyle/>
          <a:p>
            <a:endParaRPr/>
          </a:p>
        </p:txBody>
      </p:sp>
      <p:sp>
        <p:nvSpPr>
          <p:cNvPr id="294" name="Line"/>
          <p:cNvSpPr/>
          <p:nvPr/>
        </p:nvSpPr>
        <p:spPr>
          <a:xfrm flipV="1">
            <a:off x="17051291" y="3886375"/>
            <a:ext cx="1705516" cy="1187546"/>
          </a:xfrm>
          <a:prstGeom prst="line">
            <a:avLst/>
          </a:prstGeom>
          <a:ln w="76200">
            <a:solidFill>
              <a:srgbClr val="000000"/>
            </a:solidFill>
            <a:miter lim="400000"/>
            <a:tailEnd type="triangle"/>
          </a:ln>
        </p:spPr>
        <p:txBody>
          <a:bodyPr lIns="50800" tIns="50800" rIns="50800" bIns="50800" anchor="ctr"/>
          <a:lstStyle/>
          <a:p>
            <a:endParaRPr/>
          </a:p>
        </p:txBody>
      </p:sp>
      <p:grpSp>
        <p:nvGrpSpPr>
          <p:cNvPr id="2" name="Group 1">
            <a:extLst>
              <a:ext uri="{FF2B5EF4-FFF2-40B4-BE49-F238E27FC236}">
                <a16:creationId xmlns:a16="http://schemas.microsoft.com/office/drawing/2014/main" id="{8AECB235-62B8-D599-5E3C-F078ED46DC56}"/>
              </a:ext>
            </a:extLst>
          </p:cNvPr>
          <p:cNvGrpSpPr/>
          <p:nvPr/>
        </p:nvGrpSpPr>
        <p:grpSpPr>
          <a:xfrm>
            <a:off x="2576258" y="8563982"/>
            <a:ext cx="19929540" cy="1854544"/>
            <a:chOff x="2576258" y="8563982"/>
            <a:chExt cx="19929540" cy="1854544"/>
          </a:xfrm>
        </p:grpSpPr>
        <p:pic>
          <p:nvPicPr>
            <p:cNvPr id="295" name="Image" descr="Image"/>
            <p:cNvPicPr>
              <a:picLocks noChangeAspect="1"/>
            </p:cNvPicPr>
            <p:nvPr/>
          </p:nvPicPr>
          <p:blipFill>
            <a:blip r:embed="rId15"/>
            <a:stretch>
              <a:fillRect/>
            </a:stretch>
          </p:blipFill>
          <p:spPr>
            <a:xfrm>
              <a:off x="12806133" y="9717838"/>
              <a:ext cx="2057401" cy="673101"/>
            </a:xfrm>
            <a:prstGeom prst="rect">
              <a:avLst/>
            </a:prstGeom>
            <a:ln w="12700">
              <a:miter lim="400000"/>
            </a:ln>
          </p:spPr>
        </p:pic>
        <p:grpSp>
          <p:nvGrpSpPr>
            <p:cNvPr id="6" name="Group 5">
              <a:extLst>
                <a:ext uri="{FF2B5EF4-FFF2-40B4-BE49-F238E27FC236}">
                  <a16:creationId xmlns:a16="http://schemas.microsoft.com/office/drawing/2014/main" id="{65023EBD-11AB-8B88-2F15-1A3D8AD58159}"/>
                </a:ext>
              </a:extLst>
            </p:cNvPr>
            <p:cNvGrpSpPr/>
            <p:nvPr/>
          </p:nvGrpSpPr>
          <p:grpSpPr>
            <a:xfrm>
              <a:off x="2576258" y="8563982"/>
              <a:ext cx="19929540" cy="1854544"/>
              <a:chOff x="1734158" y="11383421"/>
              <a:chExt cx="19929540" cy="1854544"/>
            </a:xfrm>
          </p:grpSpPr>
          <p:sp>
            <p:nvSpPr>
              <p:cNvPr id="284" name="Swap the roles and aggregate to avoid loss of efficiency due to sample splitting."/>
              <p:cNvSpPr txBox="1"/>
              <p:nvPr/>
            </p:nvSpPr>
            <p:spPr>
              <a:xfrm>
                <a:off x="1734158" y="11383421"/>
                <a:ext cx="19929540" cy="7214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Swap the roles and aggregate to avoid loss of efficiency</a:t>
                </a:r>
                <a:r>
                  <a:rPr lang="en-US" dirty="0"/>
                  <a:t> due to sample splitting.</a:t>
                </a:r>
                <a:endParaRPr dirty="0"/>
              </a:p>
            </p:txBody>
          </p:sp>
          <p:pic>
            <p:nvPicPr>
              <p:cNvPr id="296" name="Image" descr="Image"/>
              <p:cNvPicPr>
                <a:picLocks noChangeAspect="1"/>
              </p:cNvPicPr>
              <p:nvPr/>
            </p:nvPicPr>
            <p:blipFill>
              <a:blip r:embed="rId16"/>
              <a:stretch>
                <a:fillRect/>
              </a:stretch>
            </p:blipFill>
            <p:spPr>
              <a:xfrm>
                <a:off x="5378734" y="12196564"/>
                <a:ext cx="6299201" cy="1041401"/>
              </a:xfrm>
              <a:prstGeom prst="rect">
                <a:avLst/>
              </a:prstGeom>
              <a:ln w="12700">
                <a:miter lim="400000"/>
              </a:ln>
            </p:spPr>
          </p:pic>
        </p:grpSp>
      </p:grpSp>
      <p:pic>
        <p:nvPicPr>
          <p:cNvPr id="4" name="Picture 3">
            <a:extLst>
              <a:ext uri="{FF2B5EF4-FFF2-40B4-BE49-F238E27FC236}">
                <a16:creationId xmlns:a16="http://schemas.microsoft.com/office/drawing/2014/main" id="{E72B022E-68A5-4F0F-CF68-249354BE4FC3}"/>
              </a:ext>
            </a:extLst>
          </p:cNvPr>
          <p:cNvPicPr>
            <a:picLocks noChangeAspect="1"/>
          </p:cNvPicPr>
          <p:nvPr/>
        </p:nvPicPr>
        <p:blipFill>
          <a:blip r:embed="rId17"/>
          <a:stretch>
            <a:fillRect/>
          </a:stretch>
        </p:blipFill>
        <p:spPr>
          <a:xfrm>
            <a:off x="18957488" y="4305312"/>
            <a:ext cx="5041900" cy="1079500"/>
          </a:xfrm>
          <a:prstGeom prst="rect">
            <a:avLst/>
          </a:prstGeom>
        </p:spPr>
      </p:pic>
      <p:sp>
        <p:nvSpPr>
          <p:cNvPr id="5" name="Slide Number Placeholder 4">
            <a:extLst>
              <a:ext uri="{FF2B5EF4-FFF2-40B4-BE49-F238E27FC236}">
                <a16:creationId xmlns:a16="http://schemas.microsoft.com/office/drawing/2014/main" id="{3D940462-9685-88BC-A442-A5E8CF8BC1AD}"/>
              </a:ext>
            </a:extLst>
          </p:cNvPr>
          <p:cNvSpPr>
            <a:spLocks noGrp="1"/>
          </p:cNvSpPr>
          <p:nvPr>
            <p:ph type="sldNum" sz="quarter" idx="2"/>
          </p:nvPr>
        </p:nvSpPr>
        <p:spPr/>
        <p:txBody>
          <a:bodyPr/>
          <a:lstStyle/>
          <a:p>
            <a:fld id="{86CB4B4D-7CA3-9044-876B-883B54F8677D}" type="slidenum">
              <a:rPr lang="en-US" smtClean="0"/>
              <a:t>10</a:t>
            </a:fld>
            <a:endParaRPr lang="en-US"/>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87B33C-76BB-2FF9-E7DE-658584032FA4}"/>
              </a:ext>
            </a:extLst>
          </p:cNvPr>
          <p:cNvSpPr>
            <a:spLocks noGrp="1"/>
          </p:cNvSpPr>
          <p:nvPr>
            <p:ph type="sldNum" sz="quarter" idx="2"/>
          </p:nvPr>
        </p:nvSpPr>
        <p:spPr/>
        <p:txBody>
          <a:bodyPr/>
          <a:lstStyle/>
          <a:p>
            <a:fld id="{86CB4B4D-7CA3-9044-876B-883B54F8677D}" type="slidenum">
              <a:rPr lang="en-US" smtClean="0"/>
              <a:t>11</a:t>
            </a:fld>
            <a:endParaRPr lang="en-US"/>
          </a:p>
        </p:txBody>
      </p:sp>
      <p:sp>
        <p:nvSpPr>
          <p:cNvPr id="4" name="Under global null">
            <a:extLst>
              <a:ext uri="{FF2B5EF4-FFF2-40B4-BE49-F238E27FC236}">
                <a16:creationId xmlns:a16="http://schemas.microsoft.com/office/drawing/2014/main" id="{40B5CFE5-E17A-713C-A300-9D2EAF6423CA}"/>
              </a:ext>
            </a:extLst>
          </p:cNvPr>
          <p:cNvSpPr txBox="1"/>
          <p:nvPr/>
        </p:nvSpPr>
        <p:spPr>
          <a:xfrm>
            <a:off x="5070822" y="4063498"/>
            <a:ext cx="102657"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endParaRPr dirty="0"/>
          </a:p>
        </p:txBody>
      </p:sp>
      <p:sp>
        <p:nvSpPr>
          <p:cNvPr id="11" name="TextBox 10">
            <a:extLst>
              <a:ext uri="{FF2B5EF4-FFF2-40B4-BE49-F238E27FC236}">
                <a16:creationId xmlns:a16="http://schemas.microsoft.com/office/drawing/2014/main" id="{59BBC60F-F393-3D87-BF2A-F674D62793C3}"/>
              </a:ext>
            </a:extLst>
          </p:cNvPr>
          <p:cNvSpPr txBox="1"/>
          <p:nvPr/>
        </p:nvSpPr>
        <p:spPr>
          <a:xfrm>
            <a:off x="1093840" y="3829659"/>
            <a:ext cx="5990896" cy="731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solidFill>
                  <a:schemeClr val="bg1">
                    <a:lumMod val="95000"/>
                  </a:schemeClr>
                </a:solidFill>
              </a:rPr>
              <a:t> </a:t>
            </a:r>
            <a:endParaRPr kumimoji="0" lang="en-US" sz="4100" b="1" i="0" u="none" strike="noStrike" cap="none" spc="0" normalizeH="0" baseline="0" dirty="0">
              <a:ln>
                <a:noFill/>
              </a:ln>
              <a:solidFill>
                <a:schemeClr val="bg1">
                  <a:lumMod val="95000"/>
                </a:schemeClr>
              </a:solidFill>
              <a:effectLst/>
              <a:uFillTx/>
              <a:latin typeface="Helvetica Neue"/>
              <a:ea typeface="Helvetica Neue"/>
              <a:cs typeface="Helvetica Neue"/>
              <a:sym typeface="Helvetica Neue"/>
            </a:endParaRPr>
          </a:p>
        </p:txBody>
      </p:sp>
      <p:pic>
        <p:nvPicPr>
          <p:cNvPr id="22" name="Picture 21">
            <a:extLst>
              <a:ext uri="{FF2B5EF4-FFF2-40B4-BE49-F238E27FC236}">
                <a16:creationId xmlns:a16="http://schemas.microsoft.com/office/drawing/2014/main" id="{8438DD96-B21C-195B-0990-FBD7316B34A9}"/>
              </a:ext>
            </a:extLst>
          </p:cNvPr>
          <p:cNvPicPr>
            <a:picLocks noChangeAspect="1"/>
          </p:cNvPicPr>
          <p:nvPr/>
        </p:nvPicPr>
        <p:blipFill>
          <a:blip r:embed="rId3"/>
          <a:stretch>
            <a:fillRect/>
          </a:stretch>
        </p:blipFill>
        <p:spPr>
          <a:xfrm>
            <a:off x="7230022" y="7475742"/>
            <a:ext cx="10364494" cy="2127608"/>
          </a:xfrm>
          <a:prstGeom prst="rect">
            <a:avLst/>
          </a:prstGeom>
        </p:spPr>
      </p:pic>
      <p:sp>
        <p:nvSpPr>
          <p:cNvPr id="6" name="TextBox 5">
            <a:extLst>
              <a:ext uri="{FF2B5EF4-FFF2-40B4-BE49-F238E27FC236}">
                <a16:creationId xmlns:a16="http://schemas.microsoft.com/office/drawing/2014/main" id="{82B4209D-59D1-BBAC-8C37-7955695F222A}"/>
              </a:ext>
            </a:extLst>
          </p:cNvPr>
          <p:cNvSpPr txBox="1"/>
          <p:nvPr/>
        </p:nvSpPr>
        <p:spPr>
          <a:xfrm>
            <a:off x="-864296" y="3039250"/>
            <a:ext cx="25248296"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4800" dirty="0">
                <a:solidFill>
                  <a:schemeClr val="tx1"/>
                </a:solidFill>
              </a:rPr>
              <a:t>1. PC1 support genes, identical expression level between groups. </a:t>
            </a:r>
            <a:endParaRPr kumimoji="0" lang="en-US" sz="4100" b="1" i="0" u="none" strike="noStrike" cap="none" spc="0" normalizeH="0" baseline="0" dirty="0">
              <a:ln>
                <a:noFill/>
              </a:ln>
              <a:solidFill>
                <a:schemeClr val="bg1">
                  <a:lumMod val="95000"/>
                </a:schemeClr>
              </a:solidFill>
              <a:effectLst/>
              <a:uFillTx/>
              <a:latin typeface="Helvetica Neue"/>
              <a:ea typeface="Helvetica Neue"/>
              <a:cs typeface="Helvetica Neue"/>
              <a:sym typeface="Helvetica Neue"/>
            </a:endParaRPr>
          </a:p>
        </p:txBody>
      </p:sp>
      <p:grpSp>
        <p:nvGrpSpPr>
          <p:cNvPr id="3" name="Group 2">
            <a:extLst>
              <a:ext uri="{FF2B5EF4-FFF2-40B4-BE49-F238E27FC236}">
                <a16:creationId xmlns:a16="http://schemas.microsoft.com/office/drawing/2014/main" id="{2C9FCEF3-E9A5-8089-0919-25BA1B2999B2}"/>
              </a:ext>
            </a:extLst>
          </p:cNvPr>
          <p:cNvGrpSpPr/>
          <p:nvPr/>
        </p:nvGrpSpPr>
        <p:grpSpPr>
          <a:xfrm>
            <a:off x="-76717" y="4797032"/>
            <a:ext cx="21485457" cy="2163250"/>
            <a:chOff x="-76717" y="4797032"/>
            <a:chExt cx="21485457" cy="2163250"/>
          </a:xfrm>
        </p:grpSpPr>
        <p:sp>
          <p:nvSpPr>
            <p:cNvPr id="15" name="TextBox 14">
              <a:extLst>
                <a:ext uri="{FF2B5EF4-FFF2-40B4-BE49-F238E27FC236}">
                  <a16:creationId xmlns:a16="http://schemas.microsoft.com/office/drawing/2014/main" id="{3FDD687F-7101-C1D4-F774-E4AB3ADF7947}"/>
                </a:ext>
              </a:extLst>
            </p:cNvPr>
            <p:cNvSpPr txBox="1"/>
            <p:nvPr/>
          </p:nvSpPr>
          <p:spPr>
            <a:xfrm>
              <a:off x="-76717" y="5488084"/>
              <a:ext cx="21485457" cy="14721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4800" dirty="0">
                  <a:solidFill>
                    <a:schemeClr val="tx1"/>
                  </a:solidFill>
                </a:rPr>
                <a:t>2. Applying “</a:t>
              </a:r>
              <a:r>
                <a:rPr lang="en-US" sz="4800" dirty="0">
                  <a:solidFill>
                    <a:schemeClr val="accent1">
                      <a:lumMod val="75000"/>
                    </a:schemeClr>
                  </a:solidFill>
                </a:rPr>
                <a:t>support conservative</a:t>
              </a:r>
              <a:r>
                <a:rPr lang="en-US" sz="4800" dirty="0">
                  <a:solidFill>
                    <a:schemeClr val="tx1"/>
                  </a:solidFill>
                </a:rPr>
                <a:t>” PC1 vector estimators,  </a:t>
              </a:r>
            </a:p>
            <a:p>
              <a:pPr marL="0" marR="0" indent="0" algn="ctr" defTabSz="825500" rtl="0" fontAlgn="auto" latinLnBrk="0" hangingPunct="0">
                <a:lnSpc>
                  <a:spcPct val="100000"/>
                </a:lnSpc>
                <a:spcBef>
                  <a:spcPts val="0"/>
                </a:spcBef>
                <a:spcAft>
                  <a:spcPts val="0"/>
                </a:spcAft>
                <a:buClrTx/>
                <a:buSzTx/>
                <a:buFontTx/>
                <a:buNone/>
                <a:tabLst/>
              </a:pPr>
              <a:endParaRPr kumimoji="0" lang="en-US" sz="4100" b="1" i="0" u="none" strike="noStrike" cap="none" spc="0" normalizeH="0" baseline="0" dirty="0">
                <a:ln>
                  <a:noFill/>
                </a:ln>
                <a:solidFill>
                  <a:schemeClr val="bg1">
                    <a:lumMod val="95000"/>
                  </a:schemeClr>
                </a:solidFill>
                <a:effectLst/>
                <a:uFillTx/>
                <a:latin typeface="Helvetica Neue"/>
                <a:ea typeface="Helvetica Neue"/>
                <a:cs typeface="Helvetica Neue"/>
                <a:sym typeface="Helvetica Neue"/>
              </a:endParaRPr>
            </a:p>
          </p:txBody>
        </p:sp>
        <p:pic>
          <p:nvPicPr>
            <p:cNvPr id="7" name="Picture 6">
              <a:extLst>
                <a:ext uri="{FF2B5EF4-FFF2-40B4-BE49-F238E27FC236}">
                  <a16:creationId xmlns:a16="http://schemas.microsoft.com/office/drawing/2014/main" id="{52177944-5DD4-1540-0F3C-0437DD37C77B}"/>
                </a:ext>
              </a:extLst>
            </p:cNvPr>
            <p:cNvPicPr>
              <a:picLocks noChangeAspect="1"/>
            </p:cNvPicPr>
            <p:nvPr/>
          </p:nvPicPr>
          <p:blipFill>
            <a:blip r:embed="rId4"/>
            <a:stretch>
              <a:fillRect/>
            </a:stretch>
          </p:blipFill>
          <p:spPr>
            <a:xfrm>
              <a:off x="9990964" y="4797032"/>
              <a:ext cx="7772400" cy="643305"/>
            </a:xfrm>
            <a:prstGeom prst="rect">
              <a:avLst/>
            </a:prstGeom>
          </p:spPr>
        </p:pic>
      </p:grpSp>
      <p:sp>
        <p:nvSpPr>
          <p:cNvPr id="5" name="A Preferred Pipeline?">
            <a:extLst>
              <a:ext uri="{FF2B5EF4-FFF2-40B4-BE49-F238E27FC236}">
                <a16:creationId xmlns:a16="http://schemas.microsoft.com/office/drawing/2014/main" id="{8BD2FD57-F517-63E1-55E5-9E614B33E3D4}"/>
              </a:ext>
            </a:extLst>
          </p:cNvPr>
          <p:cNvSpPr txBox="1"/>
          <p:nvPr/>
        </p:nvSpPr>
        <p:spPr>
          <a:xfrm>
            <a:off x="2398648" y="877674"/>
            <a:ext cx="6012864"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Theorem #1</a:t>
            </a:r>
            <a:endParaRPr dirty="0"/>
          </a:p>
        </p:txBody>
      </p:sp>
      <p:sp>
        <p:nvSpPr>
          <p:cNvPr id="8" name="TextBox 7">
            <a:extLst>
              <a:ext uri="{FF2B5EF4-FFF2-40B4-BE49-F238E27FC236}">
                <a16:creationId xmlns:a16="http://schemas.microsoft.com/office/drawing/2014/main" id="{DF96CE72-A1D2-44C7-D0ED-A7649A82B55C}"/>
              </a:ext>
            </a:extLst>
          </p:cNvPr>
          <p:cNvSpPr txBox="1"/>
          <p:nvPr/>
        </p:nvSpPr>
        <p:spPr>
          <a:xfrm>
            <a:off x="6363902" y="10500806"/>
            <a:ext cx="16926258" cy="25801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6000" b="0" dirty="0">
                <a:solidFill>
                  <a:srgbClr val="B42B36"/>
                </a:solidFill>
                <a:latin typeface="+mn-lt"/>
                <a:ea typeface="+mn-ea"/>
                <a:cs typeface="+mn-cs"/>
                <a:sym typeface="Helvetica Neue Medium"/>
              </a:rPr>
              <a:t>Omitting</a:t>
            </a:r>
            <a:r>
              <a:rPr lang="en-US" sz="6000" b="0" dirty="0">
                <a:solidFill>
                  <a:srgbClr val="B42B36"/>
                </a:solidFill>
                <a:latin typeface="+mn-lt"/>
                <a:ea typeface="+mn-ea"/>
                <a:cs typeface="+mn-cs"/>
              </a:rPr>
              <a:t> the variability of estimating PC vector</a:t>
            </a:r>
          </a:p>
          <a:p>
            <a:pPr marL="0" marR="0" indent="0" algn="ctr" defTabSz="825500" rtl="0" fontAlgn="auto" latinLnBrk="0" hangingPunct="0">
              <a:lnSpc>
                <a:spcPct val="100000"/>
              </a:lnSpc>
              <a:spcBef>
                <a:spcPts val="0"/>
              </a:spcBef>
              <a:spcAft>
                <a:spcPts val="0"/>
              </a:spcAft>
              <a:buClrTx/>
              <a:buSzTx/>
              <a:buFontTx/>
              <a:buNone/>
              <a:tabLst/>
            </a:pPr>
            <a:r>
              <a:rPr lang="en-US" sz="6000" b="0" dirty="0">
                <a:solidFill>
                  <a:schemeClr val="tx1"/>
                </a:solidFill>
                <a:latin typeface="+mn-lt"/>
                <a:ea typeface="+mn-ea"/>
                <a:cs typeface="+mn-cs"/>
              </a:rPr>
              <a:t>(Only mean-estimation variability) </a:t>
            </a:r>
          </a:p>
          <a:p>
            <a:pPr marL="0" marR="0" indent="0" algn="ctr" defTabSz="825500" rtl="0" fontAlgn="auto" latinLnBrk="0" hangingPunct="0">
              <a:lnSpc>
                <a:spcPct val="100000"/>
              </a:lnSpc>
              <a:spcBef>
                <a:spcPts val="0"/>
              </a:spcBef>
              <a:spcAft>
                <a:spcPts val="0"/>
              </a:spcAft>
              <a:buClrTx/>
              <a:buSzTx/>
              <a:buFontTx/>
              <a:buNone/>
              <a:tabLst/>
            </a:pPr>
            <a:endParaRPr kumimoji="0" lang="en-US" sz="4100" b="1" i="0" u="none" strike="noStrike" cap="none" spc="0" normalizeH="0" baseline="0" dirty="0">
              <a:ln>
                <a:noFill/>
              </a:ln>
              <a:solidFill>
                <a:schemeClr val="bg1">
                  <a:lumMod val="95000"/>
                </a:schemeClr>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413759613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386182-2CB7-C1B5-C573-3B73798D7827}"/>
              </a:ext>
            </a:extLst>
          </p:cNvPr>
          <p:cNvSpPr>
            <a:spLocks noGrp="1"/>
          </p:cNvSpPr>
          <p:nvPr>
            <p:ph type="sldNum" sz="quarter" idx="2"/>
          </p:nvPr>
        </p:nvSpPr>
        <p:spPr/>
        <p:txBody>
          <a:bodyPr/>
          <a:lstStyle/>
          <a:p>
            <a:fld id="{86CB4B4D-7CA3-9044-876B-883B54F8677D}" type="slidenum">
              <a:rPr lang="en-US" smtClean="0"/>
              <a:t>12</a:t>
            </a:fld>
            <a:endParaRPr lang="en-US"/>
          </a:p>
        </p:txBody>
      </p:sp>
      <p:pic>
        <p:nvPicPr>
          <p:cNvPr id="7" name="Picture 6" descr="A graph with orange line&#10;&#10;Description automatically generated">
            <a:extLst>
              <a:ext uri="{FF2B5EF4-FFF2-40B4-BE49-F238E27FC236}">
                <a16:creationId xmlns:a16="http://schemas.microsoft.com/office/drawing/2014/main" id="{C210FDD6-5E64-229A-0C6D-51CF8BF8F6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1079" y="649274"/>
            <a:ext cx="12287628" cy="6056873"/>
          </a:xfrm>
          <a:prstGeom prst="rect">
            <a:avLst/>
          </a:prstGeom>
        </p:spPr>
      </p:pic>
      <p:sp>
        <p:nvSpPr>
          <p:cNvPr id="9" name="TextBox 8">
            <a:extLst>
              <a:ext uri="{FF2B5EF4-FFF2-40B4-BE49-F238E27FC236}">
                <a16:creationId xmlns:a16="http://schemas.microsoft.com/office/drawing/2014/main" id="{A64D9054-F4AC-1BCF-8DAC-AD4B0C29F4E6}"/>
              </a:ext>
            </a:extLst>
          </p:cNvPr>
          <p:cNvSpPr txBox="1"/>
          <p:nvPr/>
        </p:nvSpPr>
        <p:spPr>
          <a:xfrm>
            <a:off x="965200" y="3065301"/>
            <a:ext cx="2540000"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Standard</a:t>
            </a: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PCA</a:t>
            </a:r>
          </a:p>
        </p:txBody>
      </p:sp>
      <p:sp>
        <p:nvSpPr>
          <p:cNvPr id="10" name="TextBox 9">
            <a:extLst>
              <a:ext uri="{FF2B5EF4-FFF2-40B4-BE49-F238E27FC236}">
                <a16:creationId xmlns:a16="http://schemas.microsoft.com/office/drawing/2014/main" id="{5554DAF0-9445-1DCB-3782-97C9DB97872C}"/>
              </a:ext>
            </a:extLst>
          </p:cNvPr>
          <p:cNvSpPr txBox="1"/>
          <p:nvPr/>
        </p:nvSpPr>
        <p:spPr>
          <a:xfrm>
            <a:off x="17068800" y="493270"/>
            <a:ext cx="639368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Alignment with  true PC1</a:t>
            </a:r>
          </a:p>
        </p:txBody>
      </p:sp>
      <p:sp>
        <p:nvSpPr>
          <p:cNvPr id="12" name="TextBox 11">
            <a:extLst>
              <a:ext uri="{FF2B5EF4-FFF2-40B4-BE49-F238E27FC236}">
                <a16:creationId xmlns:a16="http://schemas.microsoft.com/office/drawing/2014/main" id="{165ADAA8-D367-F8C5-5312-CB54A3945CEA}"/>
              </a:ext>
            </a:extLst>
          </p:cNvPr>
          <p:cNvSpPr txBox="1"/>
          <p:nvPr/>
        </p:nvSpPr>
        <p:spPr>
          <a:xfrm>
            <a:off x="20378118" y="4324861"/>
            <a:ext cx="112370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0.85</a:t>
            </a:r>
          </a:p>
        </p:txBody>
      </p:sp>
      <p:sp>
        <p:nvSpPr>
          <p:cNvPr id="14" name="TextBox 13">
            <a:extLst>
              <a:ext uri="{FF2B5EF4-FFF2-40B4-BE49-F238E27FC236}">
                <a16:creationId xmlns:a16="http://schemas.microsoft.com/office/drawing/2014/main" id="{50861F4F-0CD0-020A-5B86-170A5537ADFF}"/>
              </a:ext>
            </a:extLst>
          </p:cNvPr>
          <p:cNvSpPr txBox="1"/>
          <p:nvPr/>
        </p:nvSpPr>
        <p:spPr>
          <a:xfrm>
            <a:off x="17068800" y="1596636"/>
            <a:ext cx="474980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C51130"/>
                </a:solidFill>
                <a:effectLst/>
                <a:uFillTx/>
                <a:latin typeface="Helvetica Neue"/>
                <a:ea typeface="Helvetica Neue"/>
                <a:cs typeface="Helvetica Neue"/>
                <a:sym typeface="Helvetica Neue"/>
              </a:rPr>
              <a:t>Best = 1</a:t>
            </a:r>
          </a:p>
        </p:txBody>
      </p:sp>
      <p:sp>
        <p:nvSpPr>
          <p:cNvPr id="4" name="TextBox 3">
            <a:extLst>
              <a:ext uri="{FF2B5EF4-FFF2-40B4-BE49-F238E27FC236}">
                <a16:creationId xmlns:a16="http://schemas.microsoft.com/office/drawing/2014/main" id="{B62F1AFD-01A4-B3B5-360F-9774FBBC77BE}"/>
              </a:ext>
            </a:extLst>
          </p:cNvPr>
          <p:cNvSpPr txBox="1"/>
          <p:nvPr/>
        </p:nvSpPr>
        <p:spPr>
          <a:xfrm>
            <a:off x="8406844" y="12944762"/>
            <a:ext cx="2935099"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Gene </a:t>
            </a:r>
            <a:r>
              <a:rPr lang="en-US" dirty="0"/>
              <a:t>Index</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pic>
        <p:nvPicPr>
          <p:cNvPr id="6" name="Picture 5">
            <a:extLst>
              <a:ext uri="{FF2B5EF4-FFF2-40B4-BE49-F238E27FC236}">
                <a16:creationId xmlns:a16="http://schemas.microsoft.com/office/drawing/2014/main" id="{E95B422D-EE70-D773-BC00-C72D6BEE5427}"/>
              </a:ext>
            </a:extLst>
          </p:cNvPr>
          <p:cNvPicPr>
            <a:picLocks noChangeAspect="1"/>
          </p:cNvPicPr>
          <p:nvPr/>
        </p:nvPicPr>
        <p:blipFill>
          <a:blip r:embed="rId4"/>
          <a:stretch>
            <a:fillRect/>
          </a:stretch>
        </p:blipFill>
        <p:spPr>
          <a:xfrm>
            <a:off x="17404586" y="3347489"/>
            <a:ext cx="6057900" cy="800100"/>
          </a:xfrm>
          <a:prstGeom prst="rect">
            <a:avLst/>
          </a:prstGeom>
        </p:spPr>
      </p:pic>
      <p:grpSp>
        <p:nvGrpSpPr>
          <p:cNvPr id="3" name="Group 2">
            <a:extLst>
              <a:ext uri="{FF2B5EF4-FFF2-40B4-BE49-F238E27FC236}">
                <a16:creationId xmlns:a16="http://schemas.microsoft.com/office/drawing/2014/main" id="{83E88CE6-0214-5E8E-E7AB-54B567A70762}"/>
              </a:ext>
            </a:extLst>
          </p:cNvPr>
          <p:cNvGrpSpPr/>
          <p:nvPr/>
        </p:nvGrpSpPr>
        <p:grpSpPr>
          <a:xfrm>
            <a:off x="1295400" y="6280662"/>
            <a:ext cx="22167086" cy="6750270"/>
            <a:chOff x="1295400" y="6280662"/>
            <a:chExt cx="22167086" cy="6750270"/>
          </a:xfrm>
        </p:grpSpPr>
        <p:pic>
          <p:nvPicPr>
            <p:cNvPr id="5" name="Picture 4" descr="A graph with a line&#10;&#10;Description automatically generated">
              <a:extLst>
                <a:ext uri="{FF2B5EF4-FFF2-40B4-BE49-F238E27FC236}">
                  <a16:creationId xmlns:a16="http://schemas.microsoft.com/office/drawing/2014/main" id="{8DD27267-5895-BE4A-504D-BF42E8024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9175" y="6280662"/>
              <a:ext cx="12659625" cy="6750270"/>
            </a:xfrm>
            <a:prstGeom prst="rect">
              <a:avLst/>
            </a:prstGeom>
          </p:spPr>
        </p:pic>
        <p:sp>
          <p:nvSpPr>
            <p:cNvPr id="8" name="TextBox 7">
              <a:extLst>
                <a:ext uri="{FF2B5EF4-FFF2-40B4-BE49-F238E27FC236}">
                  <a16:creationId xmlns:a16="http://schemas.microsoft.com/office/drawing/2014/main" id="{66DE9663-2AD7-3382-581B-EE15807B6308}"/>
                </a:ext>
              </a:extLst>
            </p:cNvPr>
            <p:cNvSpPr txBox="1"/>
            <p:nvPr/>
          </p:nvSpPr>
          <p:spPr>
            <a:xfrm>
              <a:off x="1295400" y="9254156"/>
              <a:ext cx="1879600"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Sparse PCA</a:t>
              </a:r>
            </a:p>
          </p:txBody>
        </p:sp>
        <p:sp>
          <p:nvSpPr>
            <p:cNvPr id="11" name="TextBox 10">
              <a:extLst>
                <a:ext uri="{FF2B5EF4-FFF2-40B4-BE49-F238E27FC236}">
                  <a16:creationId xmlns:a16="http://schemas.microsoft.com/office/drawing/2014/main" id="{AF9D1026-78FC-DB0B-2D02-4D60AF42E677}"/>
                </a:ext>
              </a:extLst>
            </p:cNvPr>
            <p:cNvSpPr txBox="1"/>
            <p:nvPr/>
          </p:nvSpPr>
          <p:spPr>
            <a:xfrm>
              <a:off x="20433536" y="9634977"/>
              <a:ext cx="112370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0.99</a:t>
              </a:r>
            </a:p>
          </p:txBody>
        </p:sp>
        <p:pic>
          <p:nvPicPr>
            <p:cNvPr id="13" name="Picture 12">
              <a:extLst>
                <a:ext uri="{FF2B5EF4-FFF2-40B4-BE49-F238E27FC236}">
                  <a16:creationId xmlns:a16="http://schemas.microsoft.com/office/drawing/2014/main" id="{0A9CB893-1957-585D-D0D7-B6A43886B340}"/>
                </a:ext>
              </a:extLst>
            </p:cNvPr>
            <p:cNvPicPr>
              <a:picLocks noChangeAspect="1"/>
            </p:cNvPicPr>
            <p:nvPr/>
          </p:nvPicPr>
          <p:blipFill>
            <a:blip r:embed="rId4"/>
            <a:stretch>
              <a:fillRect/>
            </a:stretch>
          </p:blipFill>
          <p:spPr>
            <a:xfrm>
              <a:off x="17404586" y="8488930"/>
              <a:ext cx="6057900" cy="800100"/>
            </a:xfrm>
            <a:prstGeom prst="rect">
              <a:avLst/>
            </a:prstGeom>
          </p:spPr>
        </p:pic>
      </p:grpSp>
    </p:spTree>
    <p:extLst>
      <p:ext uri="{BB962C8B-B14F-4D97-AF65-F5344CB8AC3E}">
        <p14:creationId xmlns:p14="http://schemas.microsoft.com/office/powerpoint/2010/main" val="351829391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6B59F2-6656-8928-7B6C-D17116FEEAE4}"/>
              </a:ext>
            </a:extLst>
          </p:cNvPr>
          <p:cNvSpPr>
            <a:spLocks noGrp="1"/>
          </p:cNvSpPr>
          <p:nvPr>
            <p:ph type="sldNum" sz="quarter" idx="2"/>
          </p:nvPr>
        </p:nvSpPr>
        <p:spPr/>
        <p:txBody>
          <a:bodyPr/>
          <a:lstStyle/>
          <a:p>
            <a:fld id="{86CB4B4D-7CA3-9044-876B-883B54F8677D}" type="slidenum">
              <a:rPr lang="en-US" smtClean="0"/>
              <a:t>13</a:t>
            </a:fld>
            <a:endParaRPr lang="en-US"/>
          </a:p>
        </p:txBody>
      </p:sp>
      <p:sp>
        <p:nvSpPr>
          <p:cNvPr id="3" name="TextBox 2">
            <a:extLst>
              <a:ext uri="{FF2B5EF4-FFF2-40B4-BE49-F238E27FC236}">
                <a16:creationId xmlns:a16="http://schemas.microsoft.com/office/drawing/2014/main" id="{C0B15145-F901-F78F-CC6B-731A1DE708B7}"/>
              </a:ext>
            </a:extLst>
          </p:cNvPr>
          <p:cNvSpPr txBox="1"/>
          <p:nvPr/>
        </p:nvSpPr>
        <p:spPr>
          <a:xfrm>
            <a:off x="2330122" y="4740404"/>
            <a:ext cx="19257817" cy="25955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5400" dirty="0"/>
              <a:t>  General PC-k genes.</a:t>
            </a:r>
          </a:p>
          <a:p>
            <a:pPr marL="0" marR="0" indent="0" algn="l" defTabSz="825500" rtl="0" fontAlgn="auto" latinLnBrk="0" hangingPunct="0">
              <a:lnSpc>
                <a:spcPct val="100000"/>
              </a:lnSpc>
              <a:spcBef>
                <a:spcPts val="0"/>
              </a:spcBef>
              <a:spcAft>
                <a:spcPts val="0"/>
              </a:spcAft>
              <a:buClrTx/>
              <a:buSzTx/>
              <a:buFontTx/>
              <a:buNone/>
              <a:tabLst/>
            </a:pPr>
            <a:endParaRPr lang="en-US" sz="5400" dirty="0"/>
          </a:p>
          <a:p>
            <a:pPr marL="0" marR="0" indent="0" algn="l" defTabSz="825500" rtl="0" fontAlgn="auto" latinLnBrk="0" hangingPunct="0">
              <a:lnSpc>
                <a:spcPct val="100000"/>
              </a:lnSpc>
              <a:spcBef>
                <a:spcPts val="0"/>
              </a:spcBef>
              <a:spcAft>
                <a:spcPts val="0"/>
              </a:spcAft>
              <a:buClrTx/>
              <a:buSzTx/>
              <a:buFontTx/>
              <a:buNone/>
              <a:tabLst/>
            </a:pPr>
            <a:r>
              <a:rPr lang="en-US" sz="5400" dirty="0"/>
              <a:t>  WGCNA eigengene</a:t>
            </a:r>
            <a:endParaRPr kumimoji="0" lang="en-US" sz="54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4" name="TextBox 3">
            <a:extLst>
              <a:ext uri="{FF2B5EF4-FFF2-40B4-BE49-F238E27FC236}">
                <a16:creationId xmlns:a16="http://schemas.microsoft.com/office/drawing/2014/main" id="{59952229-2B00-37AB-7BFB-AEFF6DEF4455}"/>
              </a:ext>
            </a:extLst>
          </p:cNvPr>
          <p:cNvSpPr txBox="1"/>
          <p:nvPr/>
        </p:nvSpPr>
        <p:spPr>
          <a:xfrm>
            <a:off x="2330122" y="9051766"/>
            <a:ext cx="14206055"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C51130"/>
                </a:solidFill>
                <a:effectLst/>
                <a:uFillTx/>
                <a:latin typeface="Helvetica Neue"/>
                <a:ea typeface="Helvetica Neue"/>
                <a:cs typeface="Helvetica Neue"/>
                <a:sym typeface="Helvetica Neue"/>
              </a:rPr>
              <a:t>Well-defined population-level projection</a:t>
            </a:r>
            <a:r>
              <a:rPr kumimoji="0" lang="en-US" sz="4100" b="1" i="0" u="none" strike="noStrike" cap="none" spc="0" normalizeH="0" dirty="0">
                <a:ln>
                  <a:noFill/>
                </a:ln>
                <a:solidFill>
                  <a:srgbClr val="C51130"/>
                </a:solidFill>
                <a:effectLst/>
                <a:uFillTx/>
                <a:latin typeface="Helvetica Neue"/>
                <a:ea typeface="Helvetica Neue"/>
                <a:cs typeface="Helvetica Neue"/>
                <a:sym typeface="Helvetica Neue"/>
              </a:rPr>
              <a:t> direction</a:t>
            </a:r>
            <a:r>
              <a:rPr kumimoji="0" lang="en-US" sz="4100" b="1" i="0" u="none" strike="noStrike" cap="none" spc="0" normalizeH="0" baseline="0" dirty="0">
                <a:ln>
                  <a:noFill/>
                </a:ln>
                <a:solidFill>
                  <a:srgbClr val="C51130"/>
                </a:solidFill>
                <a:effectLst/>
                <a:uFillTx/>
                <a:latin typeface="Helvetica Neue"/>
                <a:ea typeface="Helvetica Neue"/>
                <a:cs typeface="Helvetica Neue"/>
                <a:sym typeface="Helvetica Neue"/>
              </a:rPr>
              <a:t> + </a:t>
            </a:r>
          </a:p>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C51130"/>
                </a:solidFill>
                <a:effectLst/>
                <a:uFillTx/>
                <a:latin typeface="Helvetica Neue"/>
                <a:ea typeface="Helvetica Neue"/>
                <a:cs typeface="Helvetica Neue"/>
                <a:sym typeface="Helvetica Neue"/>
              </a:rPr>
              <a:t>support conservative estimate </a:t>
            </a:r>
          </a:p>
        </p:txBody>
      </p:sp>
    </p:spTree>
    <p:extLst>
      <p:ext uri="{BB962C8B-B14F-4D97-AF65-F5344CB8AC3E}">
        <p14:creationId xmlns:p14="http://schemas.microsoft.com/office/powerpoint/2010/main" val="310578494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1BD6A4-87E5-8D8A-C44D-EA43C2AA95C8}"/>
              </a:ext>
            </a:extLst>
          </p:cNvPr>
          <p:cNvSpPr>
            <a:spLocks noGrp="1"/>
          </p:cNvSpPr>
          <p:nvPr>
            <p:ph type="sldNum" sz="quarter" idx="2"/>
          </p:nvPr>
        </p:nvSpPr>
        <p:spPr/>
        <p:txBody>
          <a:bodyPr/>
          <a:lstStyle/>
          <a:p>
            <a:fld id="{86CB4B4D-7CA3-9044-876B-883B54F8677D}" type="slidenum">
              <a:rPr lang="en-US" smtClean="0"/>
              <a:t>14</a:t>
            </a:fld>
            <a:endParaRPr lang="en-US"/>
          </a:p>
        </p:txBody>
      </p:sp>
      <p:sp>
        <p:nvSpPr>
          <p:cNvPr id="3" name="A Preferred Pipeline?">
            <a:extLst>
              <a:ext uri="{FF2B5EF4-FFF2-40B4-BE49-F238E27FC236}">
                <a16:creationId xmlns:a16="http://schemas.microsoft.com/office/drawing/2014/main" id="{11B814D5-CCA5-BCF8-6A58-F515188F12F9}"/>
              </a:ext>
            </a:extLst>
          </p:cNvPr>
          <p:cNvSpPr txBox="1"/>
          <p:nvPr/>
        </p:nvSpPr>
        <p:spPr>
          <a:xfrm>
            <a:off x="6198639" y="5647412"/>
            <a:ext cx="11068736"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7200" dirty="0"/>
              <a:t>Back to the PC score plot</a:t>
            </a:r>
            <a:endParaRPr sz="7200" dirty="0"/>
          </a:p>
        </p:txBody>
      </p:sp>
    </p:spTree>
    <p:extLst>
      <p:ext uri="{BB962C8B-B14F-4D97-AF65-F5344CB8AC3E}">
        <p14:creationId xmlns:p14="http://schemas.microsoft.com/office/powerpoint/2010/main" val="16644667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3F88ED-F0F3-74DE-B8D9-5BFB24ABC758}"/>
              </a:ext>
            </a:extLst>
          </p:cNvPr>
          <p:cNvSpPr>
            <a:spLocks noGrp="1"/>
          </p:cNvSpPr>
          <p:nvPr>
            <p:ph type="sldNum" sz="quarter" idx="2"/>
          </p:nvPr>
        </p:nvSpPr>
        <p:spPr/>
        <p:txBody>
          <a:bodyPr/>
          <a:lstStyle/>
          <a:p>
            <a:fld id="{86CB4B4D-7CA3-9044-876B-883B54F8677D}" type="slidenum">
              <a:rPr lang="en-US" smtClean="0"/>
              <a:t>15</a:t>
            </a:fld>
            <a:endParaRPr lang="en-US"/>
          </a:p>
        </p:txBody>
      </p:sp>
      <p:grpSp>
        <p:nvGrpSpPr>
          <p:cNvPr id="4" name="Group 3">
            <a:extLst>
              <a:ext uri="{FF2B5EF4-FFF2-40B4-BE49-F238E27FC236}">
                <a16:creationId xmlns:a16="http://schemas.microsoft.com/office/drawing/2014/main" id="{B618B62D-FE35-5C5D-76E1-0B10E50965EA}"/>
              </a:ext>
            </a:extLst>
          </p:cNvPr>
          <p:cNvGrpSpPr/>
          <p:nvPr/>
        </p:nvGrpSpPr>
        <p:grpSpPr>
          <a:xfrm>
            <a:off x="10115058" y="1498600"/>
            <a:ext cx="12968872" cy="10321501"/>
            <a:chOff x="8184658" y="957858"/>
            <a:chExt cx="15356574" cy="12353671"/>
          </a:xfrm>
        </p:grpSpPr>
        <p:grpSp>
          <p:nvGrpSpPr>
            <p:cNvPr id="5" name="Group 4">
              <a:extLst>
                <a:ext uri="{FF2B5EF4-FFF2-40B4-BE49-F238E27FC236}">
                  <a16:creationId xmlns:a16="http://schemas.microsoft.com/office/drawing/2014/main" id="{F7F9C6C2-5969-F217-A25F-ED3C108B2FC7}"/>
                </a:ext>
              </a:extLst>
            </p:cNvPr>
            <p:cNvGrpSpPr/>
            <p:nvPr/>
          </p:nvGrpSpPr>
          <p:grpSpPr>
            <a:xfrm>
              <a:off x="8184658" y="957858"/>
              <a:ext cx="11913583" cy="12353671"/>
              <a:chOff x="6228858" y="1188388"/>
              <a:chExt cx="11913583" cy="12353671"/>
            </a:xfrm>
          </p:grpSpPr>
          <p:grpSp>
            <p:nvGrpSpPr>
              <p:cNvPr id="10" name="Group 9">
                <a:extLst>
                  <a:ext uri="{FF2B5EF4-FFF2-40B4-BE49-F238E27FC236}">
                    <a16:creationId xmlns:a16="http://schemas.microsoft.com/office/drawing/2014/main" id="{F6F9E925-D873-2552-FAE2-FDDD85F00B1C}"/>
                  </a:ext>
                </a:extLst>
              </p:cNvPr>
              <p:cNvGrpSpPr/>
              <p:nvPr/>
            </p:nvGrpSpPr>
            <p:grpSpPr>
              <a:xfrm>
                <a:off x="6228858" y="1188388"/>
                <a:ext cx="11913583" cy="12353671"/>
                <a:chOff x="5910943" y="620486"/>
                <a:chExt cx="11913583" cy="12353671"/>
              </a:xfrm>
            </p:grpSpPr>
            <p:grpSp>
              <p:nvGrpSpPr>
                <p:cNvPr id="12" name="Group 11">
                  <a:extLst>
                    <a:ext uri="{FF2B5EF4-FFF2-40B4-BE49-F238E27FC236}">
                      <a16:creationId xmlns:a16="http://schemas.microsoft.com/office/drawing/2014/main" id="{03B8D1BA-FFC4-0623-EC22-F4694FBC3658}"/>
                    </a:ext>
                  </a:extLst>
                </p:cNvPr>
                <p:cNvGrpSpPr/>
                <p:nvPr/>
              </p:nvGrpSpPr>
              <p:grpSpPr>
                <a:xfrm>
                  <a:off x="6093536" y="741843"/>
                  <a:ext cx="11730990" cy="12232314"/>
                  <a:chOff x="5321390" y="-3079042"/>
                  <a:chExt cx="11730990" cy="12232314"/>
                </a:xfrm>
              </p:grpSpPr>
              <p:pic>
                <p:nvPicPr>
                  <p:cNvPr id="14" name="Picture 13" descr="A diagram of a group and control&#10;&#10;Description automatically generated">
                    <a:extLst>
                      <a:ext uri="{FF2B5EF4-FFF2-40B4-BE49-F238E27FC236}">
                        <a16:creationId xmlns:a16="http://schemas.microsoft.com/office/drawing/2014/main" id="{8DD72A5D-D749-6008-97FF-A7A8AA57F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390" y="-3079042"/>
                    <a:ext cx="11730990" cy="12232314"/>
                  </a:xfrm>
                  <a:prstGeom prst="rect">
                    <a:avLst/>
                  </a:prstGeom>
                </p:spPr>
              </p:pic>
              <p:sp>
                <p:nvSpPr>
                  <p:cNvPr id="15" name="Rectangle 14">
                    <a:extLst>
                      <a:ext uri="{FF2B5EF4-FFF2-40B4-BE49-F238E27FC236}">
                        <a16:creationId xmlns:a16="http://schemas.microsoft.com/office/drawing/2014/main" id="{9C63CB8D-BE23-B4CE-379B-F82464085BC6}"/>
                      </a:ext>
                    </a:extLst>
                  </p:cNvPr>
                  <p:cNvSpPr/>
                  <p:nvPr/>
                </p:nvSpPr>
                <p:spPr>
                  <a:xfrm>
                    <a:off x="6792686" y="741843"/>
                    <a:ext cx="653143" cy="53178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3" name="Rectangle 12">
                  <a:extLst>
                    <a:ext uri="{FF2B5EF4-FFF2-40B4-BE49-F238E27FC236}">
                      <a16:creationId xmlns:a16="http://schemas.microsoft.com/office/drawing/2014/main" id="{4C539344-3709-BF89-5615-39DA9E6788CA}"/>
                    </a:ext>
                  </a:extLst>
                </p:cNvPr>
                <p:cNvSpPr/>
                <p:nvPr/>
              </p:nvSpPr>
              <p:spPr>
                <a:xfrm>
                  <a:off x="5910943" y="620486"/>
                  <a:ext cx="1208314" cy="81642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1" name="Rectangle 10">
                <a:extLst>
                  <a:ext uri="{FF2B5EF4-FFF2-40B4-BE49-F238E27FC236}">
                    <a16:creationId xmlns:a16="http://schemas.microsoft.com/office/drawing/2014/main" id="{BF5B1331-94C1-7DB4-7314-F63968F99C23}"/>
                  </a:ext>
                </a:extLst>
              </p:cNvPr>
              <p:cNvSpPr/>
              <p:nvPr/>
            </p:nvSpPr>
            <p:spPr>
              <a:xfrm>
                <a:off x="9956800" y="12877024"/>
                <a:ext cx="6096000" cy="66503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pic>
          <p:nvPicPr>
            <p:cNvPr id="6" name="Picture 5" descr="A yellow circle on a white background&#10;&#10;Description automatically generated">
              <a:extLst>
                <a:ext uri="{FF2B5EF4-FFF2-40B4-BE49-F238E27FC236}">
                  <a16:creationId xmlns:a16="http://schemas.microsoft.com/office/drawing/2014/main" id="{EB94FAAF-01CF-76D1-C07C-86D568D65B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86041" y="4970689"/>
              <a:ext cx="1083496" cy="1166048"/>
            </a:xfrm>
            <a:prstGeom prst="rect">
              <a:avLst/>
            </a:prstGeom>
          </p:spPr>
        </p:pic>
        <p:pic>
          <p:nvPicPr>
            <p:cNvPr id="7" name="Picture 6" descr="A blue triangle on a white background&#10;&#10;Description automatically generated">
              <a:extLst>
                <a:ext uri="{FF2B5EF4-FFF2-40B4-BE49-F238E27FC236}">
                  <a16:creationId xmlns:a16="http://schemas.microsoft.com/office/drawing/2014/main" id="{647A6D71-5E9A-4257-EBB4-4BE694B40B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80834" y="3405952"/>
              <a:ext cx="1207693" cy="1166048"/>
            </a:xfrm>
            <a:prstGeom prst="rect">
              <a:avLst/>
            </a:prstGeom>
          </p:spPr>
        </p:pic>
        <p:sp>
          <p:nvSpPr>
            <p:cNvPr id="8" name="TextBox 7">
              <a:extLst>
                <a:ext uri="{FF2B5EF4-FFF2-40B4-BE49-F238E27FC236}">
                  <a16:creationId xmlns:a16="http://schemas.microsoft.com/office/drawing/2014/main" id="{B3A91346-7194-6EBE-D96E-37ADAA31AA7D}"/>
                </a:ext>
              </a:extLst>
            </p:cNvPr>
            <p:cNvSpPr txBox="1"/>
            <p:nvPr/>
          </p:nvSpPr>
          <p:spPr>
            <a:xfrm>
              <a:off x="21740137" y="3627570"/>
              <a:ext cx="1630496" cy="8779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Case</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9" name="TextBox 8">
              <a:extLst>
                <a:ext uri="{FF2B5EF4-FFF2-40B4-BE49-F238E27FC236}">
                  <a16:creationId xmlns:a16="http://schemas.microsoft.com/office/drawing/2014/main" id="{E9526FBA-D974-E500-7069-A68E1872D3E5}"/>
                </a:ext>
              </a:extLst>
            </p:cNvPr>
            <p:cNvSpPr txBox="1"/>
            <p:nvPr/>
          </p:nvSpPr>
          <p:spPr>
            <a:xfrm>
              <a:off x="21569537" y="5004706"/>
              <a:ext cx="197169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Control</a:t>
              </a:r>
            </a:p>
          </p:txBody>
        </p:sp>
      </p:grpSp>
      <p:grpSp>
        <p:nvGrpSpPr>
          <p:cNvPr id="18" name="Group 17">
            <a:extLst>
              <a:ext uri="{FF2B5EF4-FFF2-40B4-BE49-F238E27FC236}">
                <a16:creationId xmlns:a16="http://schemas.microsoft.com/office/drawing/2014/main" id="{06AEA7D9-CD84-20B0-9BCB-B9D1C353A60A}"/>
              </a:ext>
            </a:extLst>
          </p:cNvPr>
          <p:cNvGrpSpPr/>
          <p:nvPr/>
        </p:nvGrpSpPr>
        <p:grpSpPr>
          <a:xfrm>
            <a:off x="759318" y="7147048"/>
            <a:ext cx="8580986" cy="4395234"/>
            <a:chOff x="759318" y="7147048"/>
            <a:chExt cx="8580986" cy="4395234"/>
          </a:xfrm>
        </p:grpSpPr>
        <p:sp>
          <p:nvSpPr>
            <p:cNvPr id="19" name="Rounded Rectangle 18">
              <a:extLst>
                <a:ext uri="{FF2B5EF4-FFF2-40B4-BE49-F238E27FC236}">
                  <a16:creationId xmlns:a16="http://schemas.microsoft.com/office/drawing/2014/main" id="{67488F21-2ADA-90FA-27C8-0BE75F5BF091}"/>
                </a:ext>
              </a:extLst>
            </p:cNvPr>
            <p:cNvSpPr/>
            <p:nvPr/>
          </p:nvSpPr>
          <p:spPr>
            <a:xfrm>
              <a:off x="759318" y="7147048"/>
              <a:ext cx="8580986" cy="4395234"/>
            </a:xfrm>
            <a:prstGeom prst="roundRect">
              <a:avLst/>
            </a:prstGeom>
            <a:solidFill>
              <a:srgbClr val="E4177D">
                <a:alpha val="29412"/>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25" name="Picture 24">
              <a:extLst>
                <a:ext uri="{FF2B5EF4-FFF2-40B4-BE49-F238E27FC236}">
                  <a16:creationId xmlns:a16="http://schemas.microsoft.com/office/drawing/2014/main" id="{7897F30C-2FC9-7B71-688C-3B2F1B4C2CF4}"/>
                </a:ext>
              </a:extLst>
            </p:cNvPr>
            <p:cNvPicPr>
              <a:picLocks noChangeAspect="1"/>
            </p:cNvPicPr>
            <p:nvPr/>
          </p:nvPicPr>
          <p:blipFill>
            <a:blip r:embed="rId6"/>
            <a:stretch>
              <a:fillRect/>
            </a:stretch>
          </p:blipFill>
          <p:spPr>
            <a:xfrm>
              <a:off x="1163611" y="8913452"/>
              <a:ext cx="7772400" cy="773436"/>
            </a:xfrm>
            <a:prstGeom prst="rect">
              <a:avLst/>
            </a:prstGeom>
          </p:spPr>
        </p:pic>
      </p:grpSp>
      <p:grpSp>
        <p:nvGrpSpPr>
          <p:cNvPr id="16" name="Group 15">
            <a:extLst>
              <a:ext uri="{FF2B5EF4-FFF2-40B4-BE49-F238E27FC236}">
                <a16:creationId xmlns:a16="http://schemas.microsoft.com/office/drawing/2014/main" id="{DE2EB9CB-6D70-B57A-4E17-E0703610A9CE}"/>
              </a:ext>
            </a:extLst>
          </p:cNvPr>
          <p:cNvGrpSpPr/>
          <p:nvPr/>
        </p:nvGrpSpPr>
        <p:grpSpPr>
          <a:xfrm>
            <a:off x="759318" y="2116030"/>
            <a:ext cx="8580986" cy="4395234"/>
            <a:chOff x="759318" y="2116030"/>
            <a:chExt cx="8580986" cy="4395234"/>
          </a:xfrm>
        </p:grpSpPr>
        <p:sp>
          <p:nvSpPr>
            <p:cNvPr id="17" name="Rounded Rectangle 16">
              <a:extLst>
                <a:ext uri="{FF2B5EF4-FFF2-40B4-BE49-F238E27FC236}">
                  <a16:creationId xmlns:a16="http://schemas.microsoft.com/office/drawing/2014/main" id="{A3FFB1E8-31C6-F59F-ED72-2ED0EE878B78}"/>
                </a:ext>
              </a:extLst>
            </p:cNvPr>
            <p:cNvSpPr/>
            <p:nvPr/>
          </p:nvSpPr>
          <p:spPr>
            <a:xfrm>
              <a:off x="759318" y="2116030"/>
              <a:ext cx="8580986" cy="4395234"/>
            </a:xfrm>
            <a:prstGeom prst="roundRect">
              <a:avLst/>
            </a:prstGeom>
            <a:solidFill>
              <a:srgbClr val="E4177D">
                <a:alpha val="29412"/>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21" name="Picture 20">
              <a:extLst>
                <a:ext uri="{FF2B5EF4-FFF2-40B4-BE49-F238E27FC236}">
                  <a16:creationId xmlns:a16="http://schemas.microsoft.com/office/drawing/2014/main" id="{F27A64AB-9BFE-5784-47AB-ED40361D5050}"/>
                </a:ext>
              </a:extLst>
            </p:cNvPr>
            <p:cNvPicPr>
              <a:picLocks noChangeAspect="1"/>
            </p:cNvPicPr>
            <p:nvPr/>
          </p:nvPicPr>
          <p:blipFill>
            <a:blip r:embed="rId7"/>
            <a:stretch>
              <a:fillRect/>
            </a:stretch>
          </p:blipFill>
          <p:spPr>
            <a:xfrm>
              <a:off x="2128811" y="3475146"/>
              <a:ext cx="2921000" cy="508000"/>
            </a:xfrm>
            <a:prstGeom prst="rect">
              <a:avLst/>
            </a:prstGeom>
          </p:spPr>
        </p:pic>
        <p:sp>
          <p:nvSpPr>
            <p:cNvPr id="3" name="TextBox 2">
              <a:extLst>
                <a:ext uri="{FF2B5EF4-FFF2-40B4-BE49-F238E27FC236}">
                  <a16:creationId xmlns:a16="http://schemas.microsoft.com/office/drawing/2014/main" id="{A6926EC7-4C7B-9ED1-8A45-703E272AB65F}"/>
                </a:ext>
              </a:extLst>
            </p:cNvPr>
            <p:cNvSpPr txBox="1"/>
            <p:nvPr/>
          </p:nvSpPr>
          <p:spPr>
            <a:xfrm>
              <a:off x="3935533" y="4518218"/>
              <a:ext cx="4364977"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f</a:t>
              </a: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or all PC1 genes</a:t>
              </a:r>
            </a:p>
          </p:txBody>
        </p:sp>
      </p:grpSp>
      <p:pic>
        <p:nvPicPr>
          <p:cNvPr id="20" name="Picture 19">
            <a:extLst>
              <a:ext uri="{FF2B5EF4-FFF2-40B4-BE49-F238E27FC236}">
                <a16:creationId xmlns:a16="http://schemas.microsoft.com/office/drawing/2014/main" id="{8804B0D4-0FDE-6F89-45F6-22594CEBE7A0}"/>
              </a:ext>
            </a:extLst>
          </p:cNvPr>
          <p:cNvPicPr>
            <a:picLocks noChangeAspect="1"/>
          </p:cNvPicPr>
          <p:nvPr/>
        </p:nvPicPr>
        <p:blipFill>
          <a:blip r:embed="rId8"/>
          <a:stretch>
            <a:fillRect/>
          </a:stretch>
        </p:blipFill>
        <p:spPr>
          <a:xfrm rot="5400000">
            <a:off x="3839965" y="6292208"/>
            <a:ext cx="1867116" cy="1131585"/>
          </a:xfrm>
          <a:prstGeom prst="rect">
            <a:avLst/>
          </a:prstGeom>
        </p:spPr>
      </p:pic>
    </p:spTree>
    <p:extLst>
      <p:ext uri="{BB962C8B-B14F-4D97-AF65-F5344CB8AC3E}">
        <p14:creationId xmlns:p14="http://schemas.microsoft.com/office/powerpoint/2010/main" val="1602140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 name="null_plot.pdf" descr="null_plot.pdf"/>
          <p:cNvPicPr>
            <a:picLocks noChangeAspect="1"/>
          </p:cNvPicPr>
          <p:nvPr/>
        </p:nvPicPr>
        <p:blipFill>
          <a:blip r:embed="rId3"/>
          <a:stretch>
            <a:fillRect/>
          </a:stretch>
        </p:blipFill>
        <p:spPr>
          <a:xfrm>
            <a:off x="508843" y="2699974"/>
            <a:ext cx="14956095" cy="8984226"/>
          </a:xfrm>
          <a:prstGeom prst="rect">
            <a:avLst/>
          </a:prstGeom>
          <a:ln w="12700">
            <a:miter lim="400000"/>
          </a:ln>
        </p:spPr>
      </p:pic>
      <p:sp>
        <p:nvSpPr>
          <p:cNvPr id="266" name="Total sample size = 375, p = 100. Thin blue curve: standard normal."/>
          <p:cNvSpPr txBox="1"/>
          <p:nvPr/>
        </p:nvSpPr>
        <p:spPr>
          <a:xfrm>
            <a:off x="853022" y="1665033"/>
            <a:ext cx="8505534"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Thin </a:t>
            </a:r>
            <a:r>
              <a:rPr dirty="0">
                <a:solidFill>
                  <a:schemeClr val="accent1">
                    <a:lumOff val="-13575"/>
                  </a:schemeClr>
                </a:solidFill>
              </a:rPr>
              <a:t>blue</a:t>
            </a:r>
            <a:r>
              <a:rPr dirty="0"/>
              <a:t> curve: standard normal.</a:t>
            </a:r>
          </a:p>
        </p:txBody>
      </p:sp>
      <p:sp>
        <p:nvSpPr>
          <p:cNvPr id="6" name="Slide Number Placeholder 5">
            <a:extLst>
              <a:ext uri="{FF2B5EF4-FFF2-40B4-BE49-F238E27FC236}">
                <a16:creationId xmlns:a16="http://schemas.microsoft.com/office/drawing/2014/main" id="{89799E4B-9689-89A3-C2AC-AFAFFED76443}"/>
              </a:ext>
            </a:extLst>
          </p:cNvPr>
          <p:cNvSpPr>
            <a:spLocks noGrp="1"/>
          </p:cNvSpPr>
          <p:nvPr>
            <p:ph type="sldNum" sz="quarter" idx="2"/>
          </p:nvPr>
        </p:nvSpPr>
        <p:spPr/>
        <p:txBody>
          <a:bodyPr/>
          <a:lstStyle/>
          <a:p>
            <a:fld id="{86CB4B4D-7CA3-9044-876B-883B54F8677D}" type="slidenum">
              <a:rPr lang="en-US" smtClean="0"/>
              <a:t>16</a:t>
            </a:fld>
            <a:endParaRPr lang="en-US"/>
          </a:p>
        </p:txBody>
      </p:sp>
      <p:sp>
        <p:nvSpPr>
          <p:cNvPr id="7" name="Rounded Rectangle 6">
            <a:extLst>
              <a:ext uri="{FF2B5EF4-FFF2-40B4-BE49-F238E27FC236}">
                <a16:creationId xmlns:a16="http://schemas.microsoft.com/office/drawing/2014/main" id="{2FCE13AA-0992-F045-39CA-4ED5B4BB60B0}"/>
              </a:ext>
            </a:extLst>
          </p:cNvPr>
          <p:cNvSpPr/>
          <p:nvPr/>
        </p:nvSpPr>
        <p:spPr>
          <a:xfrm>
            <a:off x="15803014" y="7429585"/>
            <a:ext cx="8580986" cy="4395234"/>
          </a:xfrm>
          <a:prstGeom prst="roundRect">
            <a:avLst/>
          </a:prstGeom>
          <a:solidFill>
            <a:schemeClr val="bg2">
              <a:lumMod val="75000"/>
              <a:alpha val="29412"/>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8" name="Rounded Rectangle 7">
            <a:extLst>
              <a:ext uri="{FF2B5EF4-FFF2-40B4-BE49-F238E27FC236}">
                <a16:creationId xmlns:a16="http://schemas.microsoft.com/office/drawing/2014/main" id="{16629B1C-B880-4832-A89E-ABEE1AAA9DC3}"/>
              </a:ext>
            </a:extLst>
          </p:cNvPr>
          <p:cNvSpPr/>
          <p:nvPr/>
        </p:nvSpPr>
        <p:spPr>
          <a:xfrm>
            <a:off x="15803014" y="2398567"/>
            <a:ext cx="8580986" cy="4395234"/>
          </a:xfrm>
          <a:prstGeom prst="roundRect">
            <a:avLst/>
          </a:prstGeom>
          <a:solidFill>
            <a:schemeClr val="bg2">
              <a:lumMod val="75000"/>
              <a:alpha val="29412"/>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9" name="Picture 8">
            <a:extLst>
              <a:ext uri="{FF2B5EF4-FFF2-40B4-BE49-F238E27FC236}">
                <a16:creationId xmlns:a16="http://schemas.microsoft.com/office/drawing/2014/main" id="{D3BFB173-DEE5-49B8-7342-E3E24E2AB60C}"/>
              </a:ext>
            </a:extLst>
          </p:cNvPr>
          <p:cNvPicPr>
            <a:picLocks noChangeAspect="1"/>
          </p:cNvPicPr>
          <p:nvPr/>
        </p:nvPicPr>
        <p:blipFill>
          <a:blip r:embed="rId4"/>
          <a:stretch>
            <a:fillRect/>
          </a:stretch>
        </p:blipFill>
        <p:spPr>
          <a:xfrm>
            <a:off x="17172507" y="3757683"/>
            <a:ext cx="2921000" cy="508000"/>
          </a:xfrm>
          <a:prstGeom prst="rect">
            <a:avLst/>
          </a:prstGeom>
        </p:spPr>
      </p:pic>
      <p:pic>
        <p:nvPicPr>
          <p:cNvPr id="10" name="Picture 9">
            <a:extLst>
              <a:ext uri="{FF2B5EF4-FFF2-40B4-BE49-F238E27FC236}">
                <a16:creationId xmlns:a16="http://schemas.microsoft.com/office/drawing/2014/main" id="{69C8C96C-4FF8-AFD3-660E-8B4E3EAFF44E}"/>
              </a:ext>
            </a:extLst>
          </p:cNvPr>
          <p:cNvPicPr>
            <a:picLocks noChangeAspect="1"/>
          </p:cNvPicPr>
          <p:nvPr/>
        </p:nvPicPr>
        <p:blipFill>
          <a:blip r:embed="rId5"/>
          <a:stretch>
            <a:fillRect/>
          </a:stretch>
        </p:blipFill>
        <p:spPr>
          <a:xfrm>
            <a:off x="16207307" y="8688457"/>
            <a:ext cx="7772400" cy="773436"/>
          </a:xfrm>
          <a:prstGeom prst="rect">
            <a:avLst/>
          </a:prstGeom>
        </p:spPr>
      </p:pic>
      <p:sp>
        <p:nvSpPr>
          <p:cNvPr id="11" name="TextBox 10">
            <a:extLst>
              <a:ext uri="{FF2B5EF4-FFF2-40B4-BE49-F238E27FC236}">
                <a16:creationId xmlns:a16="http://schemas.microsoft.com/office/drawing/2014/main" id="{FE2A335C-4AD9-4A16-7B84-ED42E382137A}"/>
              </a:ext>
            </a:extLst>
          </p:cNvPr>
          <p:cNvSpPr txBox="1"/>
          <p:nvPr/>
        </p:nvSpPr>
        <p:spPr>
          <a:xfrm>
            <a:off x="18979229" y="4800755"/>
            <a:ext cx="4364977"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f</a:t>
            </a: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or all PC1 genes</a:t>
            </a:r>
          </a:p>
        </p:txBody>
      </p:sp>
      <p:sp>
        <p:nvSpPr>
          <p:cNvPr id="12" name="TextBox 11">
            <a:extLst>
              <a:ext uri="{FF2B5EF4-FFF2-40B4-BE49-F238E27FC236}">
                <a16:creationId xmlns:a16="http://schemas.microsoft.com/office/drawing/2014/main" id="{BA977B41-2057-CD19-8399-59163D9A0545}"/>
              </a:ext>
            </a:extLst>
          </p:cNvPr>
          <p:cNvSpPr txBox="1"/>
          <p:nvPr/>
        </p:nvSpPr>
        <p:spPr>
          <a:xfrm>
            <a:off x="18421384" y="10583753"/>
            <a:ext cx="1115691"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 But</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pic>
        <p:nvPicPr>
          <p:cNvPr id="13" name="Picture 12">
            <a:extLst>
              <a:ext uri="{FF2B5EF4-FFF2-40B4-BE49-F238E27FC236}">
                <a16:creationId xmlns:a16="http://schemas.microsoft.com/office/drawing/2014/main" id="{47CA20B1-32FA-89BC-FC85-616A654E95A5}"/>
              </a:ext>
            </a:extLst>
          </p:cNvPr>
          <p:cNvPicPr>
            <a:picLocks noChangeAspect="1"/>
          </p:cNvPicPr>
          <p:nvPr/>
        </p:nvPicPr>
        <p:blipFill>
          <a:blip r:embed="rId6"/>
          <a:stretch>
            <a:fillRect/>
          </a:stretch>
        </p:blipFill>
        <p:spPr>
          <a:xfrm>
            <a:off x="20042505" y="10501695"/>
            <a:ext cx="2921000" cy="711200"/>
          </a:xfrm>
          <a:prstGeom prst="rect">
            <a:avLst/>
          </a:prstGeom>
        </p:spPr>
      </p:pic>
      <p:sp>
        <p:nvSpPr>
          <p:cNvPr id="14" name="TextBox 13">
            <a:extLst>
              <a:ext uri="{FF2B5EF4-FFF2-40B4-BE49-F238E27FC236}">
                <a16:creationId xmlns:a16="http://schemas.microsoft.com/office/drawing/2014/main" id="{C6752F26-2DE5-1CE7-E7F5-DB0BD2EF6B7F}"/>
              </a:ext>
            </a:extLst>
          </p:cNvPr>
          <p:cNvSpPr txBox="1"/>
          <p:nvPr/>
        </p:nvSpPr>
        <p:spPr>
          <a:xfrm>
            <a:off x="15461574" y="1339250"/>
            <a:ext cx="682880"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6600" b="1" i="0" u="none" strike="noStrike" cap="none" spc="0" normalizeH="0" baseline="0" dirty="0">
                <a:ln>
                  <a:noFill/>
                </a:ln>
                <a:solidFill>
                  <a:srgbClr val="EFA8AD"/>
                </a:solidFill>
                <a:effectLst/>
                <a:uFillTx/>
                <a:latin typeface="Helvetica Neue"/>
                <a:ea typeface="Helvetica Neue"/>
                <a:cs typeface="Helvetica Neue"/>
                <a:sym typeface="Helvetica Neue"/>
              </a:rPr>
              <a:t>A</a:t>
            </a:r>
          </a:p>
        </p:txBody>
      </p:sp>
      <p:sp>
        <p:nvSpPr>
          <p:cNvPr id="15" name="TextBox 14">
            <a:extLst>
              <a:ext uri="{FF2B5EF4-FFF2-40B4-BE49-F238E27FC236}">
                <a16:creationId xmlns:a16="http://schemas.microsoft.com/office/drawing/2014/main" id="{67182F39-7150-BA23-E194-5A727E813AA7}"/>
              </a:ext>
            </a:extLst>
          </p:cNvPr>
          <p:cNvSpPr txBox="1"/>
          <p:nvPr/>
        </p:nvSpPr>
        <p:spPr>
          <a:xfrm>
            <a:off x="15508398" y="6707974"/>
            <a:ext cx="698909"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6600" dirty="0">
                <a:solidFill>
                  <a:srgbClr val="A4C0AD"/>
                </a:solidFill>
              </a:rPr>
              <a:t>B</a:t>
            </a:r>
            <a:endParaRPr kumimoji="0" lang="en-US" sz="6600" b="1" i="0" u="none" strike="noStrike" cap="none" spc="0" normalizeH="0" baseline="0" dirty="0">
              <a:ln>
                <a:noFill/>
              </a:ln>
              <a:solidFill>
                <a:srgbClr val="A4C0AD"/>
              </a:solidFill>
              <a:effectLst/>
              <a:uFillTx/>
              <a:latin typeface="Helvetica Neue"/>
              <a:ea typeface="Helvetica Neue"/>
              <a:cs typeface="Helvetica Neue"/>
              <a:sym typeface="Helvetica Neue"/>
            </a:endParaRPr>
          </a:p>
        </p:txBody>
      </p:sp>
      <p:sp>
        <p:nvSpPr>
          <p:cNvPr id="2" name="Rectangle 1">
            <a:extLst>
              <a:ext uri="{FF2B5EF4-FFF2-40B4-BE49-F238E27FC236}">
                <a16:creationId xmlns:a16="http://schemas.microsoft.com/office/drawing/2014/main" id="{EFE9BBB0-AFAD-BF71-A6DF-9C425F7B0E4E}"/>
              </a:ext>
            </a:extLst>
          </p:cNvPr>
          <p:cNvSpPr/>
          <p:nvPr/>
        </p:nvSpPr>
        <p:spPr>
          <a:xfrm>
            <a:off x="5722375" y="2457505"/>
            <a:ext cx="4984954" cy="1057709"/>
          </a:xfrm>
          <a:prstGeom prst="rect">
            <a:avLst/>
          </a:prstGeom>
          <a:solidFill>
            <a:schemeClr val="bg1"/>
          </a:solidFill>
          <a:ln w="920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293677494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How to test projected null?"/>
          <p:cNvSpPr txBox="1"/>
          <p:nvPr/>
        </p:nvSpPr>
        <p:spPr>
          <a:xfrm>
            <a:off x="1995577" y="1336304"/>
            <a:ext cx="12195646"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7200" dirty="0"/>
              <a:t>A Harder Task to Determine </a:t>
            </a:r>
            <a:endParaRPr sz="7200" dirty="0"/>
          </a:p>
        </p:txBody>
      </p:sp>
      <p:sp>
        <p:nvSpPr>
          <p:cNvPr id="2" name="Slide Number Placeholder 1">
            <a:extLst>
              <a:ext uri="{FF2B5EF4-FFF2-40B4-BE49-F238E27FC236}">
                <a16:creationId xmlns:a16="http://schemas.microsoft.com/office/drawing/2014/main" id="{A209FB05-E0FC-68E2-A69F-AFFB9C688D44}"/>
              </a:ext>
            </a:extLst>
          </p:cNvPr>
          <p:cNvSpPr>
            <a:spLocks noGrp="1"/>
          </p:cNvSpPr>
          <p:nvPr>
            <p:ph type="sldNum" sz="quarter" idx="2"/>
          </p:nvPr>
        </p:nvSpPr>
        <p:spPr/>
        <p:txBody>
          <a:bodyPr/>
          <a:lstStyle/>
          <a:p>
            <a:fld id="{86CB4B4D-7CA3-9044-876B-883B54F8677D}" type="slidenum">
              <a:rPr lang="en-US" smtClean="0"/>
              <a:t>17</a:t>
            </a:fld>
            <a:endParaRPr lang="en-US"/>
          </a:p>
        </p:txBody>
      </p:sp>
      <p:grpSp>
        <p:nvGrpSpPr>
          <p:cNvPr id="3" name="Group 2">
            <a:extLst>
              <a:ext uri="{FF2B5EF4-FFF2-40B4-BE49-F238E27FC236}">
                <a16:creationId xmlns:a16="http://schemas.microsoft.com/office/drawing/2014/main" id="{AF4DEBD8-D090-0F59-CD47-83815F32A815}"/>
              </a:ext>
            </a:extLst>
          </p:cNvPr>
          <p:cNvGrpSpPr/>
          <p:nvPr/>
        </p:nvGrpSpPr>
        <p:grpSpPr>
          <a:xfrm>
            <a:off x="1615967" y="3253455"/>
            <a:ext cx="18690290" cy="2073742"/>
            <a:chOff x="1615967" y="3253455"/>
            <a:chExt cx="18690290" cy="2073742"/>
          </a:xfrm>
        </p:grpSpPr>
        <p:grpSp>
          <p:nvGrpSpPr>
            <p:cNvPr id="9" name="Group 8">
              <a:extLst>
                <a:ext uri="{FF2B5EF4-FFF2-40B4-BE49-F238E27FC236}">
                  <a16:creationId xmlns:a16="http://schemas.microsoft.com/office/drawing/2014/main" id="{5AA21924-7B41-AF3C-DBB9-9062B3871E0A}"/>
                </a:ext>
              </a:extLst>
            </p:cNvPr>
            <p:cNvGrpSpPr/>
            <p:nvPr/>
          </p:nvGrpSpPr>
          <p:grpSpPr>
            <a:xfrm>
              <a:off x="1615967" y="3253455"/>
              <a:ext cx="18690290" cy="2073742"/>
              <a:chOff x="1615967" y="3245171"/>
              <a:chExt cx="18690290" cy="2073742"/>
            </a:xfrm>
          </p:grpSpPr>
          <p:sp>
            <p:nvSpPr>
              <p:cNvPr id="311" name="not converging to a normal distribution"/>
              <p:cNvSpPr txBox="1"/>
              <p:nvPr/>
            </p:nvSpPr>
            <p:spPr>
              <a:xfrm>
                <a:off x="4518281" y="3245171"/>
                <a:ext cx="15787976"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8A8A8A"/>
                    </a:solidFill>
                  </a:defRPr>
                </a:lvl1pPr>
              </a:lstStyle>
              <a:p>
                <a:r>
                  <a:rPr lang="en-US" dirty="0"/>
                  <a:t>does not have tractable distribution, high-dimensional setting. </a:t>
                </a:r>
                <a:endParaRPr dirty="0"/>
              </a:p>
            </p:txBody>
          </p:sp>
          <p:sp>
            <p:nvSpPr>
              <p:cNvPr id="8" name="TextBox 7">
                <a:extLst>
                  <a:ext uri="{FF2B5EF4-FFF2-40B4-BE49-F238E27FC236}">
                    <a16:creationId xmlns:a16="http://schemas.microsoft.com/office/drawing/2014/main" id="{20178E7F-105F-AC86-9A68-7F9DB826926C}"/>
                  </a:ext>
                </a:extLst>
              </p:cNvPr>
              <p:cNvSpPr txBox="1"/>
              <p:nvPr/>
            </p:nvSpPr>
            <p:spPr>
              <a:xfrm>
                <a:off x="1615967" y="4585379"/>
                <a:ext cx="1760969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solidFill>
                      <a:srgbClr val="8A8A8A"/>
                    </a:solidFill>
                  </a:rPr>
                  <a:t> Previously presented procedure omitted variability of estimating PC1</a:t>
                </a:r>
                <a:endParaRPr kumimoji="0" lang="en-US" sz="4100" b="1" i="0" u="none" strike="noStrike" cap="none" spc="0" normalizeH="0" baseline="0" dirty="0">
                  <a:ln>
                    <a:noFill/>
                  </a:ln>
                  <a:solidFill>
                    <a:srgbClr val="8A8A8A"/>
                  </a:solidFill>
                  <a:effectLst/>
                  <a:uFillTx/>
                  <a:latin typeface="Helvetica Neue"/>
                  <a:ea typeface="Helvetica Neue"/>
                  <a:cs typeface="Helvetica Neue"/>
                  <a:sym typeface="Helvetica Neue"/>
                </a:endParaRPr>
              </a:p>
            </p:txBody>
          </p:sp>
        </p:grpSp>
        <p:pic>
          <p:nvPicPr>
            <p:cNvPr id="6" name="Picture 5">
              <a:extLst>
                <a:ext uri="{FF2B5EF4-FFF2-40B4-BE49-F238E27FC236}">
                  <a16:creationId xmlns:a16="http://schemas.microsoft.com/office/drawing/2014/main" id="{5CC0710B-F9BB-1BCD-F164-F2DE33751DE6}"/>
                </a:ext>
              </a:extLst>
            </p:cNvPr>
            <p:cNvPicPr>
              <a:picLocks noChangeAspect="1"/>
            </p:cNvPicPr>
            <p:nvPr/>
          </p:nvPicPr>
          <p:blipFill>
            <a:blip r:embed="rId3"/>
            <a:stretch>
              <a:fillRect/>
            </a:stretch>
          </p:blipFill>
          <p:spPr>
            <a:xfrm>
              <a:off x="1848995" y="3495238"/>
              <a:ext cx="2400300" cy="571500"/>
            </a:xfrm>
            <a:prstGeom prst="rect">
              <a:avLst/>
            </a:prstGeom>
          </p:spPr>
        </p:pic>
      </p:grpSp>
      <p:pic>
        <p:nvPicPr>
          <p:cNvPr id="12" name="Picture 11">
            <a:extLst>
              <a:ext uri="{FF2B5EF4-FFF2-40B4-BE49-F238E27FC236}">
                <a16:creationId xmlns:a16="http://schemas.microsoft.com/office/drawing/2014/main" id="{2CC1D4FE-831F-3BC8-7E0F-31E5BB0A3FCE}"/>
              </a:ext>
            </a:extLst>
          </p:cNvPr>
          <p:cNvPicPr>
            <a:picLocks noChangeAspect="1"/>
          </p:cNvPicPr>
          <p:nvPr/>
        </p:nvPicPr>
        <p:blipFill>
          <a:blip r:embed="rId4"/>
          <a:stretch>
            <a:fillRect/>
          </a:stretch>
        </p:blipFill>
        <p:spPr>
          <a:xfrm>
            <a:off x="14497837" y="1551542"/>
            <a:ext cx="7772400" cy="773436"/>
          </a:xfrm>
          <a:prstGeom prst="rect">
            <a:avLst/>
          </a:prstGeom>
        </p:spPr>
      </p:pic>
      <p:sp>
        <p:nvSpPr>
          <p:cNvPr id="13" name="TextBox 12">
            <a:extLst>
              <a:ext uri="{FF2B5EF4-FFF2-40B4-BE49-F238E27FC236}">
                <a16:creationId xmlns:a16="http://schemas.microsoft.com/office/drawing/2014/main" id="{DF1D6D73-2222-278D-76B7-98A5AF73AFAE}"/>
              </a:ext>
            </a:extLst>
          </p:cNvPr>
          <p:cNvSpPr txBox="1"/>
          <p:nvPr/>
        </p:nvSpPr>
        <p:spPr>
          <a:xfrm>
            <a:off x="18156093" y="792088"/>
            <a:ext cx="573875"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6600" b="1" i="0" u="none" strike="noStrike" cap="none" spc="0" normalizeH="0" baseline="0" dirty="0">
                <a:ln>
                  <a:noFill/>
                </a:ln>
                <a:solidFill>
                  <a:srgbClr val="C51130"/>
                </a:solidFill>
                <a:effectLst/>
                <a:uFillTx/>
                <a:latin typeface="Helvetica Neue"/>
                <a:ea typeface="Helvetica Neue"/>
                <a:cs typeface="Helvetica Neue"/>
                <a:sym typeface="Helvetica Neue"/>
              </a:rPr>
              <a:t>?</a:t>
            </a:r>
          </a:p>
        </p:txBody>
      </p:sp>
      <p:grpSp>
        <p:nvGrpSpPr>
          <p:cNvPr id="5" name="Group 4">
            <a:extLst>
              <a:ext uri="{FF2B5EF4-FFF2-40B4-BE49-F238E27FC236}">
                <a16:creationId xmlns:a16="http://schemas.microsoft.com/office/drawing/2014/main" id="{7D70EBCD-2029-2C7E-014D-582B1D0206C5}"/>
              </a:ext>
            </a:extLst>
          </p:cNvPr>
          <p:cNvGrpSpPr/>
          <p:nvPr/>
        </p:nvGrpSpPr>
        <p:grpSpPr>
          <a:xfrm>
            <a:off x="1020004" y="5803239"/>
            <a:ext cx="21980717" cy="3502370"/>
            <a:chOff x="1020004" y="5803239"/>
            <a:chExt cx="21980717" cy="3502370"/>
          </a:xfrm>
        </p:grpSpPr>
        <p:grpSp>
          <p:nvGrpSpPr>
            <p:cNvPr id="19" name="Group 18">
              <a:extLst>
                <a:ext uri="{FF2B5EF4-FFF2-40B4-BE49-F238E27FC236}">
                  <a16:creationId xmlns:a16="http://schemas.microsoft.com/office/drawing/2014/main" id="{C9099167-7C62-626C-E4B7-5D70F79EBB21}"/>
                </a:ext>
              </a:extLst>
            </p:cNvPr>
            <p:cNvGrpSpPr/>
            <p:nvPr/>
          </p:nvGrpSpPr>
          <p:grpSpPr>
            <a:xfrm>
              <a:off x="1020004" y="5803239"/>
              <a:ext cx="18801622" cy="3502370"/>
              <a:chOff x="1020004" y="5803239"/>
              <a:chExt cx="18801622" cy="3502370"/>
            </a:xfrm>
          </p:grpSpPr>
          <p:sp>
            <p:nvSpPr>
              <p:cNvPr id="313" name="Debiased/ one-step estimator of"/>
              <p:cNvSpPr txBox="1"/>
              <p:nvPr/>
            </p:nvSpPr>
            <p:spPr>
              <a:xfrm>
                <a:off x="1020004" y="5803239"/>
                <a:ext cx="18801622"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solidFill>
                      <a:srgbClr val="B42B36"/>
                    </a:solidFill>
                  </a:rPr>
                  <a:t>Debiased</a:t>
                </a:r>
                <a:r>
                  <a:rPr lang="en-US" dirty="0">
                    <a:solidFill>
                      <a:srgbClr val="B42B36"/>
                    </a:solidFill>
                  </a:rPr>
                  <a:t>/ one-step/ double-machine learning/ doubly-robust</a:t>
                </a:r>
                <a:r>
                  <a:rPr lang="en-US" dirty="0"/>
                  <a:t> </a:t>
                </a:r>
                <a:r>
                  <a:rPr dirty="0"/>
                  <a:t>estimator of </a:t>
                </a:r>
              </a:p>
            </p:txBody>
          </p:sp>
          <p:pic>
            <p:nvPicPr>
              <p:cNvPr id="7" name="Picture 6">
                <a:extLst>
                  <a:ext uri="{FF2B5EF4-FFF2-40B4-BE49-F238E27FC236}">
                    <a16:creationId xmlns:a16="http://schemas.microsoft.com/office/drawing/2014/main" id="{52B069E2-FC98-E3A8-9603-6FCFC6563394}"/>
                  </a:ext>
                </a:extLst>
              </p:cNvPr>
              <p:cNvPicPr>
                <a:picLocks noChangeAspect="1"/>
              </p:cNvPicPr>
              <p:nvPr/>
            </p:nvPicPr>
            <p:blipFill>
              <a:blip r:embed="rId5"/>
              <a:stretch>
                <a:fillRect/>
              </a:stretch>
            </p:blipFill>
            <p:spPr>
              <a:xfrm>
                <a:off x="8093400" y="6931630"/>
                <a:ext cx="7099300" cy="787400"/>
              </a:xfrm>
              <a:prstGeom prst="rect">
                <a:avLst/>
              </a:prstGeom>
            </p:spPr>
          </p:pic>
          <p:pic>
            <p:nvPicPr>
              <p:cNvPr id="17" name="Picture 16">
                <a:extLst>
                  <a:ext uri="{FF2B5EF4-FFF2-40B4-BE49-F238E27FC236}">
                    <a16:creationId xmlns:a16="http://schemas.microsoft.com/office/drawing/2014/main" id="{65336F6E-9DA4-0FF0-DD9C-F8751F9930D5}"/>
                  </a:ext>
                </a:extLst>
              </p:cNvPr>
              <p:cNvPicPr>
                <a:picLocks noChangeAspect="1"/>
              </p:cNvPicPr>
              <p:nvPr/>
            </p:nvPicPr>
            <p:blipFill>
              <a:blip r:embed="rId6"/>
              <a:stretch>
                <a:fillRect/>
              </a:stretch>
            </p:blipFill>
            <p:spPr>
              <a:xfrm>
                <a:off x="6556904" y="8288738"/>
                <a:ext cx="10804254" cy="1016871"/>
              </a:xfrm>
              <a:prstGeom prst="rect">
                <a:avLst/>
              </a:prstGeom>
            </p:spPr>
          </p:pic>
        </p:grpSp>
        <p:sp>
          <p:nvSpPr>
            <p:cNvPr id="4" name="TextBox 3">
              <a:extLst>
                <a:ext uri="{FF2B5EF4-FFF2-40B4-BE49-F238E27FC236}">
                  <a16:creationId xmlns:a16="http://schemas.microsoft.com/office/drawing/2014/main" id="{983018BB-D3B3-E9A8-04A5-127A6236B946}"/>
                </a:ext>
              </a:extLst>
            </p:cNvPr>
            <p:cNvSpPr txBox="1"/>
            <p:nvPr/>
          </p:nvSpPr>
          <p:spPr>
            <a:xfrm>
              <a:off x="17765312" y="8430406"/>
              <a:ext cx="5235409"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“correction terms”</a:t>
              </a:r>
            </a:p>
          </p:txBody>
        </p:sp>
      </p:grpSp>
      <p:pic>
        <p:nvPicPr>
          <p:cNvPr id="10" name="Picture 9">
            <a:extLst>
              <a:ext uri="{FF2B5EF4-FFF2-40B4-BE49-F238E27FC236}">
                <a16:creationId xmlns:a16="http://schemas.microsoft.com/office/drawing/2014/main" id="{F4955B10-A3F1-AE6E-1CA0-744F5F70E211}"/>
              </a:ext>
            </a:extLst>
          </p:cNvPr>
          <p:cNvPicPr>
            <a:picLocks noChangeAspect="1"/>
          </p:cNvPicPr>
          <p:nvPr/>
        </p:nvPicPr>
        <p:blipFill>
          <a:blip r:embed="rId7"/>
          <a:stretch>
            <a:fillRect/>
          </a:stretch>
        </p:blipFill>
        <p:spPr>
          <a:xfrm>
            <a:off x="6857332" y="11059376"/>
            <a:ext cx="9571436" cy="1105082"/>
          </a:xfrm>
          <a:prstGeom prst="rect">
            <a:avLst/>
          </a:prstGeom>
        </p:spPr>
      </p:pic>
    </p:spTree>
    <p:extLst>
      <p:ext uri="{BB962C8B-B14F-4D97-AF65-F5344CB8AC3E}">
        <p14:creationId xmlns:p14="http://schemas.microsoft.com/office/powerpoint/2010/main" val="1139201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7CB638-E92E-8D69-1C75-DF969427D57E}"/>
              </a:ext>
            </a:extLst>
          </p:cNvPr>
          <p:cNvSpPr>
            <a:spLocks noGrp="1"/>
          </p:cNvSpPr>
          <p:nvPr>
            <p:ph type="sldNum" sz="quarter" idx="2"/>
          </p:nvPr>
        </p:nvSpPr>
        <p:spPr/>
        <p:txBody>
          <a:bodyPr/>
          <a:lstStyle/>
          <a:p>
            <a:fld id="{86CB4B4D-7CA3-9044-876B-883B54F8677D}" type="slidenum">
              <a:rPr lang="en-US" smtClean="0"/>
              <a:t>18</a:t>
            </a:fld>
            <a:endParaRPr lang="en-US"/>
          </a:p>
        </p:txBody>
      </p:sp>
      <p:sp>
        <p:nvSpPr>
          <p:cNvPr id="3" name="A Preferred Pipeline?">
            <a:extLst>
              <a:ext uri="{FF2B5EF4-FFF2-40B4-BE49-F238E27FC236}">
                <a16:creationId xmlns:a16="http://schemas.microsoft.com/office/drawing/2014/main" id="{DD983EC8-5B3E-BC76-1E2F-CE5BBF4B7294}"/>
              </a:ext>
            </a:extLst>
          </p:cNvPr>
          <p:cNvSpPr txBox="1"/>
          <p:nvPr/>
        </p:nvSpPr>
        <p:spPr>
          <a:xfrm>
            <a:off x="2986612" y="5647412"/>
            <a:ext cx="18851314"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7200" dirty="0"/>
              <a:t>Another perspective, maximizing test power</a:t>
            </a:r>
            <a:endParaRPr sz="7200" dirty="0"/>
          </a:p>
        </p:txBody>
      </p:sp>
    </p:spTree>
    <p:extLst>
      <p:ext uri="{BB962C8B-B14F-4D97-AF65-F5344CB8AC3E}">
        <p14:creationId xmlns:p14="http://schemas.microsoft.com/office/powerpoint/2010/main" val="103487420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ABFD7D-F0AE-7CC3-98B2-E0CB4557A794}"/>
              </a:ext>
            </a:extLst>
          </p:cNvPr>
          <p:cNvSpPr>
            <a:spLocks noGrp="1"/>
          </p:cNvSpPr>
          <p:nvPr>
            <p:ph type="sldNum" sz="quarter" idx="2"/>
          </p:nvPr>
        </p:nvSpPr>
        <p:spPr/>
        <p:txBody>
          <a:bodyPr/>
          <a:lstStyle/>
          <a:p>
            <a:fld id="{86CB4B4D-7CA3-9044-876B-883B54F8677D}" type="slidenum">
              <a:rPr lang="en-US" smtClean="0"/>
              <a:t>19</a:t>
            </a:fld>
            <a:endParaRPr lang="en-US"/>
          </a:p>
        </p:txBody>
      </p:sp>
      <p:pic>
        <p:nvPicPr>
          <p:cNvPr id="4" name="Picture 3" descr="A graph with blue dots&#10;&#10;Description automatically generated">
            <a:extLst>
              <a:ext uri="{FF2B5EF4-FFF2-40B4-BE49-F238E27FC236}">
                <a16:creationId xmlns:a16="http://schemas.microsoft.com/office/drawing/2014/main" id="{7A1909AB-20F2-6B94-24EE-CE8D5C2C97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635" y="357630"/>
            <a:ext cx="11739184" cy="10760919"/>
          </a:xfrm>
          <a:prstGeom prst="rect">
            <a:avLst/>
          </a:prstGeom>
        </p:spPr>
      </p:pic>
      <p:cxnSp>
        <p:nvCxnSpPr>
          <p:cNvPr id="10" name="Straight Arrow Connector 9">
            <a:extLst>
              <a:ext uri="{FF2B5EF4-FFF2-40B4-BE49-F238E27FC236}">
                <a16:creationId xmlns:a16="http://schemas.microsoft.com/office/drawing/2014/main" id="{A1CB0D1E-93CF-6EE2-6491-9FB7195111C8}"/>
              </a:ext>
            </a:extLst>
          </p:cNvPr>
          <p:cNvCxnSpPr>
            <a:cxnSpLocks/>
          </p:cNvCxnSpPr>
          <p:nvPr/>
        </p:nvCxnSpPr>
        <p:spPr>
          <a:xfrm flipV="1">
            <a:off x="2387599" y="2362482"/>
            <a:ext cx="8153401" cy="6375118"/>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 name="Gene vector">
            <a:extLst>
              <a:ext uri="{FF2B5EF4-FFF2-40B4-BE49-F238E27FC236}">
                <a16:creationId xmlns:a16="http://schemas.microsoft.com/office/drawing/2014/main" id="{9E0308A2-7A90-8E6B-BD84-74024E379964}"/>
              </a:ext>
            </a:extLst>
          </p:cNvPr>
          <p:cNvSpPr txBox="1"/>
          <p:nvPr/>
        </p:nvSpPr>
        <p:spPr>
          <a:xfrm>
            <a:off x="3521989" y="11808112"/>
            <a:ext cx="5884624"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B42B36"/>
                </a:solidFill>
              </a:defRPr>
            </a:lvl1pPr>
          </a:lstStyle>
          <a:p>
            <a:r>
              <a:rPr lang="en-US" dirty="0"/>
              <a:t>PC direction - variation</a:t>
            </a:r>
            <a:endParaRPr dirty="0"/>
          </a:p>
        </p:txBody>
      </p:sp>
      <p:grpSp>
        <p:nvGrpSpPr>
          <p:cNvPr id="7" name="Group 6">
            <a:extLst>
              <a:ext uri="{FF2B5EF4-FFF2-40B4-BE49-F238E27FC236}">
                <a16:creationId xmlns:a16="http://schemas.microsoft.com/office/drawing/2014/main" id="{8C4C429B-8708-04FF-F6C6-BF40607175E9}"/>
              </a:ext>
            </a:extLst>
          </p:cNvPr>
          <p:cNvGrpSpPr/>
          <p:nvPr/>
        </p:nvGrpSpPr>
        <p:grpSpPr>
          <a:xfrm>
            <a:off x="11872120" y="433529"/>
            <a:ext cx="15040327" cy="12878000"/>
            <a:chOff x="11872120" y="433529"/>
            <a:chExt cx="15040327" cy="12878000"/>
          </a:xfrm>
        </p:grpSpPr>
        <p:pic>
          <p:nvPicPr>
            <p:cNvPr id="8" name="Picture 7" descr="A group of words and a few black text&#10;&#10;Description automatically generated with medium confidence">
              <a:extLst>
                <a:ext uri="{FF2B5EF4-FFF2-40B4-BE49-F238E27FC236}">
                  <a16:creationId xmlns:a16="http://schemas.microsoft.com/office/drawing/2014/main" id="{B730D2F3-9E22-2038-21E3-944EFA3FAB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36665" y="11038229"/>
              <a:ext cx="2933700" cy="2273300"/>
            </a:xfrm>
            <a:prstGeom prst="rect">
              <a:avLst/>
            </a:prstGeom>
          </p:spPr>
        </p:pic>
        <p:grpSp>
          <p:nvGrpSpPr>
            <p:cNvPr id="13" name="Group 12">
              <a:extLst>
                <a:ext uri="{FF2B5EF4-FFF2-40B4-BE49-F238E27FC236}">
                  <a16:creationId xmlns:a16="http://schemas.microsoft.com/office/drawing/2014/main" id="{2D3E9FEE-27A7-6FC4-1FD3-0F128DEC10D2}"/>
                </a:ext>
              </a:extLst>
            </p:cNvPr>
            <p:cNvGrpSpPr/>
            <p:nvPr/>
          </p:nvGrpSpPr>
          <p:grpSpPr>
            <a:xfrm>
              <a:off x="11872120" y="433529"/>
              <a:ext cx="15040327" cy="11821680"/>
              <a:chOff x="12042159" y="668498"/>
              <a:chExt cx="15040327" cy="11821680"/>
            </a:xfrm>
          </p:grpSpPr>
          <p:pic>
            <p:nvPicPr>
              <p:cNvPr id="6" name="Picture 5" descr="A graph with dots and numbers&#10;&#10;Description automatically generated">
                <a:extLst>
                  <a:ext uri="{FF2B5EF4-FFF2-40B4-BE49-F238E27FC236}">
                    <a16:creationId xmlns:a16="http://schemas.microsoft.com/office/drawing/2014/main" id="{495F2505-78C9-6228-B73A-42B68E39F4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42159" y="668498"/>
                <a:ext cx="15040327" cy="10685020"/>
              </a:xfrm>
              <a:prstGeom prst="rect">
                <a:avLst/>
              </a:prstGeom>
            </p:spPr>
          </p:pic>
          <p:sp>
            <p:nvSpPr>
              <p:cNvPr id="5" name="Gene vector">
                <a:extLst>
                  <a:ext uri="{FF2B5EF4-FFF2-40B4-BE49-F238E27FC236}">
                    <a16:creationId xmlns:a16="http://schemas.microsoft.com/office/drawing/2014/main" id="{0F186231-A084-80F6-54B9-D57831499573}"/>
                  </a:ext>
                </a:extLst>
              </p:cNvPr>
              <p:cNvSpPr txBox="1"/>
              <p:nvPr/>
            </p:nvSpPr>
            <p:spPr>
              <a:xfrm>
                <a:off x="13954426" y="11756644"/>
                <a:ext cx="7287252"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B42B36"/>
                    </a:solidFill>
                  </a:defRPr>
                </a:lvl1pPr>
              </a:lstStyle>
              <a:p>
                <a:r>
                  <a:rPr lang="en-US" dirty="0"/>
                  <a:t>Linear discriminant direction</a:t>
                </a:r>
                <a:endParaRPr dirty="0"/>
              </a:p>
            </p:txBody>
          </p:sp>
          <p:cxnSp>
            <p:nvCxnSpPr>
              <p:cNvPr id="9" name="Straight Arrow Connector 8">
                <a:extLst>
                  <a:ext uri="{FF2B5EF4-FFF2-40B4-BE49-F238E27FC236}">
                    <a16:creationId xmlns:a16="http://schemas.microsoft.com/office/drawing/2014/main" id="{A20E2BA2-0DB0-452D-CA87-C965B5151EE2}"/>
                  </a:ext>
                </a:extLst>
              </p:cNvPr>
              <p:cNvCxnSpPr>
                <a:cxnSpLocks/>
              </p:cNvCxnSpPr>
              <p:nvPr/>
            </p:nvCxnSpPr>
            <p:spPr>
              <a:xfrm flipH="1" flipV="1">
                <a:off x="15603794" y="2662090"/>
                <a:ext cx="5632871" cy="6075510"/>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grpSp>
      </p:grpSp>
    </p:spTree>
    <p:extLst>
      <p:ext uri="{BB962C8B-B14F-4D97-AF65-F5344CB8AC3E}">
        <p14:creationId xmlns:p14="http://schemas.microsoft.com/office/powerpoint/2010/main" val="314747067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 name="Image" descr="Image"/>
          <p:cNvPicPr>
            <a:picLocks noChangeAspect="1"/>
          </p:cNvPicPr>
          <p:nvPr/>
        </p:nvPicPr>
        <p:blipFill>
          <a:blip r:embed="rId3"/>
          <a:stretch>
            <a:fillRect/>
          </a:stretch>
        </p:blipFill>
        <p:spPr>
          <a:xfrm>
            <a:off x="1430713" y="1477476"/>
            <a:ext cx="11481713" cy="4957171"/>
          </a:xfrm>
          <a:prstGeom prst="rect">
            <a:avLst/>
          </a:prstGeom>
          <a:ln w="12700">
            <a:miter lim="400000"/>
          </a:ln>
        </p:spPr>
      </p:pic>
      <p:pic>
        <p:nvPicPr>
          <p:cNvPr id="273" name="Image" descr="Image"/>
          <p:cNvPicPr>
            <a:picLocks noChangeAspect="1"/>
          </p:cNvPicPr>
          <p:nvPr/>
        </p:nvPicPr>
        <p:blipFill>
          <a:blip r:embed="rId4"/>
          <a:stretch>
            <a:fillRect/>
          </a:stretch>
        </p:blipFill>
        <p:spPr>
          <a:xfrm>
            <a:off x="2341734" y="3657611"/>
            <a:ext cx="736601" cy="596901"/>
          </a:xfrm>
          <a:prstGeom prst="rect">
            <a:avLst/>
          </a:prstGeom>
          <a:ln w="12700">
            <a:miter lim="400000"/>
          </a:ln>
        </p:spPr>
      </p:pic>
      <p:pic>
        <p:nvPicPr>
          <p:cNvPr id="274" name="Image" descr="Image"/>
          <p:cNvPicPr>
            <a:picLocks noChangeAspect="1"/>
          </p:cNvPicPr>
          <p:nvPr/>
        </p:nvPicPr>
        <p:blipFill>
          <a:blip r:embed="rId5"/>
          <a:stretch>
            <a:fillRect/>
          </a:stretch>
        </p:blipFill>
        <p:spPr>
          <a:xfrm>
            <a:off x="4788700" y="3606811"/>
            <a:ext cx="660401" cy="698501"/>
          </a:xfrm>
          <a:prstGeom prst="rect">
            <a:avLst/>
          </a:prstGeom>
          <a:ln w="12700">
            <a:miter lim="400000"/>
          </a:ln>
        </p:spPr>
      </p:pic>
      <p:pic>
        <p:nvPicPr>
          <p:cNvPr id="275" name="Image" descr="Image"/>
          <p:cNvPicPr>
            <a:picLocks noChangeAspect="1"/>
          </p:cNvPicPr>
          <p:nvPr/>
        </p:nvPicPr>
        <p:blipFill>
          <a:blip r:embed="rId6"/>
          <a:stretch>
            <a:fillRect/>
          </a:stretch>
        </p:blipFill>
        <p:spPr>
          <a:xfrm>
            <a:off x="7539528" y="768372"/>
            <a:ext cx="1219201" cy="571501"/>
          </a:xfrm>
          <a:prstGeom prst="rect">
            <a:avLst/>
          </a:prstGeom>
          <a:ln w="12700">
            <a:miter lim="400000"/>
          </a:ln>
        </p:spPr>
      </p:pic>
      <p:pic>
        <p:nvPicPr>
          <p:cNvPr id="276" name="Image" descr="Image"/>
          <p:cNvPicPr>
            <a:picLocks noChangeAspect="1"/>
          </p:cNvPicPr>
          <p:nvPr/>
        </p:nvPicPr>
        <p:blipFill>
          <a:blip r:embed="rId7"/>
          <a:stretch>
            <a:fillRect/>
          </a:stretch>
        </p:blipFill>
        <p:spPr>
          <a:xfrm>
            <a:off x="7539528" y="3321853"/>
            <a:ext cx="1219201" cy="571501"/>
          </a:xfrm>
          <a:prstGeom prst="rect">
            <a:avLst/>
          </a:prstGeom>
          <a:ln w="12700">
            <a:miter lim="400000"/>
          </a:ln>
        </p:spPr>
      </p:pic>
      <p:pic>
        <p:nvPicPr>
          <p:cNvPr id="277" name="Image" descr="Image"/>
          <p:cNvPicPr>
            <a:picLocks noChangeAspect="1"/>
          </p:cNvPicPr>
          <p:nvPr/>
        </p:nvPicPr>
        <p:blipFill>
          <a:blip r:embed="rId8"/>
          <a:stretch>
            <a:fillRect/>
          </a:stretch>
        </p:blipFill>
        <p:spPr>
          <a:xfrm>
            <a:off x="8252841" y="4658247"/>
            <a:ext cx="1727201" cy="927101"/>
          </a:xfrm>
          <a:prstGeom prst="rect">
            <a:avLst/>
          </a:prstGeom>
          <a:ln w="12700">
            <a:miter lim="400000"/>
          </a:ln>
        </p:spPr>
      </p:pic>
      <p:pic>
        <p:nvPicPr>
          <p:cNvPr id="278" name="Image" descr="Image"/>
          <p:cNvPicPr>
            <a:picLocks noChangeAspect="1"/>
          </p:cNvPicPr>
          <p:nvPr/>
        </p:nvPicPr>
        <p:blipFill>
          <a:blip r:embed="rId9"/>
          <a:stretch>
            <a:fillRect/>
          </a:stretch>
        </p:blipFill>
        <p:spPr>
          <a:xfrm>
            <a:off x="8481441" y="1759294"/>
            <a:ext cx="1270001" cy="927101"/>
          </a:xfrm>
          <a:prstGeom prst="rect">
            <a:avLst/>
          </a:prstGeom>
          <a:ln w="12700">
            <a:miter lim="400000"/>
          </a:ln>
        </p:spPr>
      </p:pic>
      <p:pic>
        <p:nvPicPr>
          <p:cNvPr id="279" name="Image" descr="Image"/>
          <p:cNvPicPr>
            <a:picLocks noChangeAspect="1"/>
          </p:cNvPicPr>
          <p:nvPr/>
        </p:nvPicPr>
        <p:blipFill>
          <a:blip r:embed="rId10"/>
          <a:stretch>
            <a:fillRect/>
          </a:stretch>
        </p:blipFill>
        <p:spPr>
          <a:xfrm>
            <a:off x="11121077" y="1708494"/>
            <a:ext cx="1155701" cy="1028701"/>
          </a:xfrm>
          <a:prstGeom prst="rect">
            <a:avLst/>
          </a:prstGeom>
          <a:ln w="12700">
            <a:miter lim="400000"/>
          </a:ln>
        </p:spPr>
      </p:pic>
      <p:pic>
        <p:nvPicPr>
          <p:cNvPr id="280" name="Image" descr="Image"/>
          <p:cNvPicPr>
            <a:picLocks noChangeAspect="1"/>
          </p:cNvPicPr>
          <p:nvPr/>
        </p:nvPicPr>
        <p:blipFill>
          <a:blip r:embed="rId11"/>
          <a:stretch>
            <a:fillRect/>
          </a:stretch>
        </p:blipFill>
        <p:spPr>
          <a:xfrm>
            <a:off x="10905177" y="4607447"/>
            <a:ext cx="1587501" cy="1028701"/>
          </a:xfrm>
          <a:prstGeom prst="rect">
            <a:avLst/>
          </a:prstGeom>
          <a:ln w="12700">
            <a:miter lim="400000"/>
          </a:ln>
        </p:spPr>
      </p:pic>
      <p:pic>
        <p:nvPicPr>
          <p:cNvPr id="281" name="Image" descr="Image"/>
          <p:cNvPicPr>
            <a:picLocks noChangeAspect="1"/>
          </p:cNvPicPr>
          <p:nvPr/>
        </p:nvPicPr>
        <p:blipFill>
          <a:blip r:embed="rId12"/>
          <a:stretch>
            <a:fillRect/>
          </a:stretch>
        </p:blipFill>
        <p:spPr>
          <a:xfrm>
            <a:off x="14363251" y="1752944"/>
            <a:ext cx="2552701" cy="939801"/>
          </a:xfrm>
          <a:prstGeom prst="rect">
            <a:avLst/>
          </a:prstGeom>
          <a:ln w="12700">
            <a:miter lim="400000"/>
          </a:ln>
        </p:spPr>
      </p:pic>
      <p:pic>
        <p:nvPicPr>
          <p:cNvPr id="282" name="Image" descr="Image"/>
          <p:cNvPicPr>
            <a:picLocks noChangeAspect="1"/>
          </p:cNvPicPr>
          <p:nvPr/>
        </p:nvPicPr>
        <p:blipFill>
          <a:blip r:embed="rId13"/>
          <a:stretch>
            <a:fillRect/>
          </a:stretch>
        </p:blipFill>
        <p:spPr>
          <a:xfrm>
            <a:off x="14915701" y="4785247"/>
            <a:ext cx="1447801" cy="673101"/>
          </a:xfrm>
          <a:prstGeom prst="rect">
            <a:avLst/>
          </a:prstGeom>
          <a:ln w="12700">
            <a:miter lim="400000"/>
          </a:ln>
        </p:spPr>
      </p:pic>
      <p:sp>
        <p:nvSpPr>
          <p:cNvPr id="289" name="Line"/>
          <p:cNvSpPr/>
          <p:nvPr/>
        </p:nvSpPr>
        <p:spPr>
          <a:xfrm flipV="1">
            <a:off x="6735549" y="2399475"/>
            <a:ext cx="702586" cy="1510422"/>
          </a:xfrm>
          <a:prstGeom prst="line">
            <a:avLst/>
          </a:prstGeom>
          <a:ln w="76200">
            <a:solidFill>
              <a:srgbClr val="000000"/>
            </a:solidFill>
            <a:miter lim="400000"/>
            <a:tailEnd type="triangle"/>
          </a:ln>
        </p:spPr>
        <p:txBody>
          <a:bodyPr lIns="50800" tIns="50800" rIns="50800" bIns="50800" anchor="ctr"/>
          <a:lstStyle/>
          <a:p>
            <a:endParaRPr/>
          </a:p>
        </p:txBody>
      </p:sp>
      <p:sp>
        <p:nvSpPr>
          <p:cNvPr id="290" name="Line"/>
          <p:cNvSpPr/>
          <p:nvPr/>
        </p:nvSpPr>
        <p:spPr>
          <a:xfrm>
            <a:off x="6746507" y="3912035"/>
            <a:ext cx="667843" cy="1735512"/>
          </a:xfrm>
          <a:prstGeom prst="line">
            <a:avLst/>
          </a:prstGeom>
          <a:ln w="76200">
            <a:solidFill>
              <a:srgbClr val="000000"/>
            </a:solidFill>
            <a:miter lim="400000"/>
            <a:tailEnd type="triangle"/>
          </a:ln>
        </p:spPr>
        <p:txBody>
          <a:bodyPr lIns="50800" tIns="50800" rIns="50800" bIns="50800" anchor="ctr"/>
          <a:lstStyle/>
          <a:p>
            <a:endParaRPr/>
          </a:p>
        </p:txBody>
      </p:sp>
      <p:sp>
        <p:nvSpPr>
          <p:cNvPr id="291" name="Line"/>
          <p:cNvSpPr/>
          <p:nvPr/>
        </p:nvSpPr>
        <p:spPr>
          <a:xfrm>
            <a:off x="13120881" y="2333516"/>
            <a:ext cx="833657" cy="1"/>
          </a:xfrm>
          <a:prstGeom prst="line">
            <a:avLst/>
          </a:prstGeom>
          <a:ln w="76200">
            <a:solidFill>
              <a:srgbClr val="000000"/>
            </a:solidFill>
            <a:miter lim="400000"/>
            <a:tailEnd type="triangle"/>
          </a:ln>
        </p:spPr>
        <p:txBody>
          <a:bodyPr lIns="50800" tIns="50800" rIns="50800" bIns="50800" anchor="ctr"/>
          <a:lstStyle/>
          <a:p>
            <a:endParaRPr/>
          </a:p>
        </p:txBody>
      </p:sp>
      <p:sp>
        <p:nvSpPr>
          <p:cNvPr id="292" name="Line"/>
          <p:cNvSpPr/>
          <p:nvPr/>
        </p:nvSpPr>
        <p:spPr>
          <a:xfrm>
            <a:off x="13417813" y="5121797"/>
            <a:ext cx="833658" cy="1"/>
          </a:xfrm>
          <a:prstGeom prst="line">
            <a:avLst/>
          </a:prstGeom>
          <a:ln w="76200">
            <a:solidFill>
              <a:srgbClr val="000000"/>
            </a:solidFill>
            <a:miter lim="400000"/>
            <a:tailEnd type="triangle"/>
          </a:ln>
        </p:spPr>
        <p:txBody>
          <a:bodyPr lIns="50800" tIns="50800" rIns="50800" bIns="50800" anchor="ctr"/>
          <a:lstStyle/>
          <a:p>
            <a:endParaRPr/>
          </a:p>
        </p:txBody>
      </p:sp>
      <p:sp>
        <p:nvSpPr>
          <p:cNvPr id="293" name="Line"/>
          <p:cNvSpPr/>
          <p:nvPr/>
        </p:nvSpPr>
        <p:spPr>
          <a:xfrm>
            <a:off x="17097986" y="2333516"/>
            <a:ext cx="1704173" cy="1340819"/>
          </a:xfrm>
          <a:prstGeom prst="line">
            <a:avLst/>
          </a:prstGeom>
          <a:ln w="76200">
            <a:solidFill>
              <a:srgbClr val="000000"/>
            </a:solidFill>
            <a:miter lim="400000"/>
            <a:tailEnd type="triangle"/>
          </a:ln>
        </p:spPr>
        <p:txBody>
          <a:bodyPr lIns="50800" tIns="50800" rIns="50800" bIns="50800" anchor="ctr"/>
          <a:lstStyle/>
          <a:p>
            <a:endParaRPr/>
          </a:p>
        </p:txBody>
      </p:sp>
      <p:sp>
        <p:nvSpPr>
          <p:cNvPr id="294" name="Line"/>
          <p:cNvSpPr/>
          <p:nvPr/>
        </p:nvSpPr>
        <p:spPr>
          <a:xfrm flipV="1">
            <a:off x="17051291" y="3886375"/>
            <a:ext cx="1705516" cy="1187546"/>
          </a:xfrm>
          <a:prstGeom prst="line">
            <a:avLst/>
          </a:prstGeom>
          <a:ln w="76200">
            <a:solidFill>
              <a:srgbClr val="000000"/>
            </a:solidFill>
            <a:miter lim="400000"/>
            <a:tailEnd type="triangle"/>
          </a:ln>
        </p:spPr>
        <p:txBody>
          <a:bodyPr lIns="50800" tIns="50800" rIns="50800" bIns="50800" anchor="ctr"/>
          <a:lstStyle/>
          <a:p>
            <a:endParaRPr/>
          </a:p>
        </p:txBody>
      </p:sp>
      <p:pic>
        <p:nvPicPr>
          <p:cNvPr id="4" name="Picture 3">
            <a:extLst>
              <a:ext uri="{FF2B5EF4-FFF2-40B4-BE49-F238E27FC236}">
                <a16:creationId xmlns:a16="http://schemas.microsoft.com/office/drawing/2014/main" id="{E72B022E-68A5-4F0F-CF68-249354BE4FC3}"/>
              </a:ext>
            </a:extLst>
          </p:cNvPr>
          <p:cNvPicPr>
            <a:picLocks noChangeAspect="1"/>
          </p:cNvPicPr>
          <p:nvPr/>
        </p:nvPicPr>
        <p:blipFill>
          <a:blip r:embed="rId14"/>
          <a:stretch>
            <a:fillRect/>
          </a:stretch>
        </p:blipFill>
        <p:spPr>
          <a:xfrm>
            <a:off x="18984193" y="3117861"/>
            <a:ext cx="5041900" cy="1079500"/>
          </a:xfrm>
          <a:prstGeom prst="rect">
            <a:avLst/>
          </a:prstGeom>
        </p:spPr>
      </p:pic>
      <p:sp>
        <p:nvSpPr>
          <p:cNvPr id="5" name="Slide Number Placeholder 4">
            <a:extLst>
              <a:ext uri="{FF2B5EF4-FFF2-40B4-BE49-F238E27FC236}">
                <a16:creationId xmlns:a16="http://schemas.microsoft.com/office/drawing/2014/main" id="{3D940462-9685-88BC-A442-A5E8CF8BC1AD}"/>
              </a:ext>
            </a:extLst>
          </p:cNvPr>
          <p:cNvSpPr>
            <a:spLocks noGrp="1"/>
          </p:cNvSpPr>
          <p:nvPr>
            <p:ph type="sldNum" sz="quarter" idx="2"/>
          </p:nvPr>
        </p:nvSpPr>
        <p:spPr/>
        <p:txBody>
          <a:bodyPr/>
          <a:lstStyle/>
          <a:p>
            <a:fld id="{86CB4B4D-7CA3-9044-876B-883B54F8677D}" type="slidenum">
              <a:rPr lang="en-US" smtClean="0"/>
              <a:t>20</a:t>
            </a:fld>
            <a:endParaRPr lang="en-US"/>
          </a:p>
        </p:txBody>
      </p:sp>
    </p:spTree>
    <p:extLst>
      <p:ext uri="{BB962C8B-B14F-4D97-AF65-F5344CB8AC3E}">
        <p14:creationId xmlns:p14="http://schemas.microsoft.com/office/powerpoint/2010/main" val="153546309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1" name="Image" descr="Image"/>
          <p:cNvPicPr>
            <a:picLocks noChangeAspect="1"/>
          </p:cNvPicPr>
          <p:nvPr/>
        </p:nvPicPr>
        <p:blipFill>
          <a:blip r:embed="rId3"/>
          <a:stretch>
            <a:fillRect/>
          </a:stretch>
        </p:blipFill>
        <p:spPr>
          <a:xfrm>
            <a:off x="1333527" y="1477476"/>
            <a:ext cx="11481713" cy="4957171"/>
          </a:xfrm>
          <a:prstGeom prst="rect">
            <a:avLst/>
          </a:prstGeom>
          <a:ln w="12700">
            <a:miter lim="400000"/>
          </a:ln>
        </p:spPr>
      </p:pic>
      <p:pic>
        <p:nvPicPr>
          <p:cNvPr id="392" name="Image" descr="Image"/>
          <p:cNvPicPr>
            <a:picLocks noChangeAspect="1"/>
          </p:cNvPicPr>
          <p:nvPr/>
        </p:nvPicPr>
        <p:blipFill>
          <a:blip r:embed="rId4"/>
          <a:stretch>
            <a:fillRect/>
          </a:stretch>
        </p:blipFill>
        <p:spPr>
          <a:xfrm>
            <a:off x="2341734" y="3657611"/>
            <a:ext cx="736601" cy="596901"/>
          </a:xfrm>
          <a:prstGeom prst="rect">
            <a:avLst/>
          </a:prstGeom>
          <a:ln w="12700">
            <a:miter lim="400000"/>
          </a:ln>
        </p:spPr>
      </p:pic>
      <p:pic>
        <p:nvPicPr>
          <p:cNvPr id="393" name="Image" descr="Image"/>
          <p:cNvPicPr>
            <a:picLocks noChangeAspect="1"/>
          </p:cNvPicPr>
          <p:nvPr/>
        </p:nvPicPr>
        <p:blipFill>
          <a:blip r:embed="rId5"/>
          <a:stretch>
            <a:fillRect/>
          </a:stretch>
        </p:blipFill>
        <p:spPr>
          <a:xfrm>
            <a:off x="4788700" y="3606811"/>
            <a:ext cx="660401" cy="698501"/>
          </a:xfrm>
          <a:prstGeom prst="rect">
            <a:avLst/>
          </a:prstGeom>
          <a:ln w="12700">
            <a:miter lim="400000"/>
          </a:ln>
        </p:spPr>
      </p:pic>
      <p:pic>
        <p:nvPicPr>
          <p:cNvPr id="394" name="Image" descr="Image"/>
          <p:cNvPicPr>
            <a:picLocks noChangeAspect="1"/>
          </p:cNvPicPr>
          <p:nvPr/>
        </p:nvPicPr>
        <p:blipFill>
          <a:blip r:embed="rId6"/>
          <a:stretch>
            <a:fillRect/>
          </a:stretch>
        </p:blipFill>
        <p:spPr>
          <a:xfrm>
            <a:off x="7539528" y="768372"/>
            <a:ext cx="1219201" cy="571501"/>
          </a:xfrm>
          <a:prstGeom prst="rect">
            <a:avLst/>
          </a:prstGeom>
          <a:ln w="12700">
            <a:miter lim="400000"/>
          </a:ln>
        </p:spPr>
      </p:pic>
      <p:pic>
        <p:nvPicPr>
          <p:cNvPr id="395" name="Image" descr="Image"/>
          <p:cNvPicPr>
            <a:picLocks noChangeAspect="1"/>
          </p:cNvPicPr>
          <p:nvPr/>
        </p:nvPicPr>
        <p:blipFill>
          <a:blip r:embed="rId7"/>
          <a:stretch>
            <a:fillRect/>
          </a:stretch>
        </p:blipFill>
        <p:spPr>
          <a:xfrm>
            <a:off x="7539528" y="3321853"/>
            <a:ext cx="1219201" cy="571501"/>
          </a:xfrm>
          <a:prstGeom prst="rect">
            <a:avLst/>
          </a:prstGeom>
          <a:ln w="12700">
            <a:miter lim="400000"/>
          </a:ln>
        </p:spPr>
      </p:pic>
      <p:pic>
        <p:nvPicPr>
          <p:cNvPr id="396" name="Image" descr="Image"/>
          <p:cNvPicPr>
            <a:picLocks noChangeAspect="1"/>
          </p:cNvPicPr>
          <p:nvPr/>
        </p:nvPicPr>
        <p:blipFill>
          <a:blip r:embed="rId8"/>
          <a:stretch>
            <a:fillRect/>
          </a:stretch>
        </p:blipFill>
        <p:spPr>
          <a:xfrm>
            <a:off x="8252841" y="4658247"/>
            <a:ext cx="1727201" cy="927101"/>
          </a:xfrm>
          <a:prstGeom prst="rect">
            <a:avLst/>
          </a:prstGeom>
          <a:ln w="12700">
            <a:miter lim="400000"/>
          </a:ln>
        </p:spPr>
      </p:pic>
      <p:pic>
        <p:nvPicPr>
          <p:cNvPr id="397" name="Image" descr="Image"/>
          <p:cNvPicPr>
            <a:picLocks noChangeAspect="1"/>
          </p:cNvPicPr>
          <p:nvPr/>
        </p:nvPicPr>
        <p:blipFill>
          <a:blip r:embed="rId9"/>
          <a:stretch>
            <a:fillRect/>
          </a:stretch>
        </p:blipFill>
        <p:spPr>
          <a:xfrm>
            <a:off x="8481441" y="1759294"/>
            <a:ext cx="1270001" cy="927101"/>
          </a:xfrm>
          <a:prstGeom prst="rect">
            <a:avLst/>
          </a:prstGeom>
          <a:ln w="12700">
            <a:miter lim="400000"/>
          </a:ln>
        </p:spPr>
      </p:pic>
      <p:pic>
        <p:nvPicPr>
          <p:cNvPr id="398" name="Image" descr="Image"/>
          <p:cNvPicPr>
            <a:picLocks noChangeAspect="1"/>
          </p:cNvPicPr>
          <p:nvPr/>
        </p:nvPicPr>
        <p:blipFill>
          <a:blip r:embed="rId10"/>
          <a:stretch>
            <a:fillRect/>
          </a:stretch>
        </p:blipFill>
        <p:spPr>
          <a:xfrm>
            <a:off x="11121077" y="1708494"/>
            <a:ext cx="1155701" cy="1028701"/>
          </a:xfrm>
          <a:prstGeom prst="rect">
            <a:avLst/>
          </a:prstGeom>
          <a:ln w="12700">
            <a:miter lim="400000"/>
          </a:ln>
        </p:spPr>
      </p:pic>
      <p:pic>
        <p:nvPicPr>
          <p:cNvPr id="399" name="Image" descr="Image"/>
          <p:cNvPicPr>
            <a:picLocks noChangeAspect="1"/>
          </p:cNvPicPr>
          <p:nvPr/>
        </p:nvPicPr>
        <p:blipFill>
          <a:blip r:embed="rId11"/>
          <a:stretch>
            <a:fillRect/>
          </a:stretch>
        </p:blipFill>
        <p:spPr>
          <a:xfrm>
            <a:off x="10905177" y="4607447"/>
            <a:ext cx="1587501" cy="1028701"/>
          </a:xfrm>
          <a:prstGeom prst="rect">
            <a:avLst/>
          </a:prstGeom>
          <a:ln w="12700">
            <a:miter lim="400000"/>
          </a:ln>
        </p:spPr>
      </p:pic>
      <p:pic>
        <p:nvPicPr>
          <p:cNvPr id="400" name="Image" descr="Image"/>
          <p:cNvPicPr>
            <a:picLocks noChangeAspect="1"/>
          </p:cNvPicPr>
          <p:nvPr/>
        </p:nvPicPr>
        <p:blipFill>
          <a:blip r:embed="rId12"/>
          <a:stretch>
            <a:fillRect/>
          </a:stretch>
        </p:blipFill>
        <p:spPr>
          <a:xfrm>
            <a:off x="14363251" y="1752944"/>
            <a:ext cx="2552701" cy="939801"/>
          </a:xfrm>
          <a:prstGeom prst="rect">
            <a:avLst/>
          </a:prstGeom>
          <a:ln w="12700">
            <a:miter lim="400000"/>
          </a:ln>
        </p:spPr>
      </p:pic>
      <p:sp>
        <p:nvSpPr>
          <p:cNvPr id="401" name="Line"/>
          <p:cNvSpPr/>
          <p:nvPr/>
        </p:nvSpPr>
        <p:spPr>
          <a:xfrm flipV="1">
            <a:off x="6735549" y="2399475"/>
            <a:ext cx="702586" cy="1510422"/>
          </a:xfrm>
          <a:prstGeom prst="line">
            <a:avLst/>
          </a:prstGeom>
          <a:ln w="76200">
            <a:solidFill>
              <a:srgbClr val="000000"/>
            </a:solidFill>
            <a:miter lim="400000"/>
            <a:tailEnd type="triangle"/>
          </a:ln>
        </p:spPr>
        <p:txBody>
          <a:bodyPr lIns="50800" tIns="50800" rIns="50800" bIns="50800" anchor="ctr"/>
          <a:lstStyle/>
          <a:p>
            <a:endParaRPr/>
          </a:p>
        </p:txBody>
      </p:sp>
      <p:sp>
        <p:nvSpPr>
          <p:cNvPr id="402" name="Line"/>
          <p:cNvSpPr/>
          <p:nvPr/>
        </p:nvSpPr>
        <p:spPr>
          <a:xfrm>
            <a:off x="6746507" y="3912035"/>
            <a:ext cx="667843" cy="1735512"/>
          </a:xfrm>
          <a:prstGeom prst="line">
            <a:avLst/>
          </a:prstGeom>
          <a:ln w="76200">
            <a:solidFill>
              <a:srgbClr val="000000"/>
            </a:solidFill>
            <a:miter lim="400000"/>
            <a:tailEnd type="triangle"/>
          </a:ln>
        </p:spPr>
        <p:txBody>
          <a:bodyPr lIns="50800" tIns="50800" rIns="50800" bIns="50800" anchor="ctr"/>
          <a:lstStyle/>
          <a:p>
            <a:endParaRPr/>
          </a:p>
        </p:txBody>
      </p:sp>
      <p:sp>
        <p:nvSpPr>
          <p:cNvPr id="403" name="Line"/>
          <p:cNvSpPr/>
          <p:nvPr/>
        </p:nvSpPr>
        <p:spPr>
          <a:xfrm>
            <a:off x="13120881" y="2333516"/>
            <a:ext cx="833657" cy="1"/>
          </a:xfrm>
          <a:prstGeom prst="line">
            <a:avLst/>
          </a:prstGeom>
          <a:ln w="76200">
            <a:solidFill>
              <a:srgbClr val="000000"/>
            </a:solidFill>
            <a:miter lim="400000"/>
            <a:tailEnd type="triangle"/>
          </a:ln>
        </p:spPr>
        <p:txBody>
          <a:bodyPr lIns="50800" tIns="50800" rIns="50800" bIns="50800" anchor="ctr"/>
          <a:lstStyle/>
          <a:p>
            <a:endParaRPr/>
          </a:p>
        </p:txBody>
      </p:sp>
      <p:sp>
        <p:nvSpPr>
          <p:cNvPr id="404" name="Line"/>
          <p:cNvSpPr/>
          <p:nvPr/>
        </p:nvSpPr>
        <p:spPr>
          <a:xfrm>
            <a:off x="13417813" y="5121797"/>
            <a:ext cx="833658" cy="1"/>
          </a:xfrm>
          <a:prstGeom prst="line">
            <a:avLst/>
          </a:prstGeom>
          <a:ln w="76200">
            <a:solidFill>
              <a:srgbClr val="000000"/>
            </a:solidFill>
            <a:miter lim="400000"/>
            <a:tailEnd type="triangle"/>
          </a:ln>
        </p:spPr>
        <p:txBody>
          <a:bodyPr lIns="50800" tIns="50800" rIns="50800" bIns="50800" anchor="ctr"/>
          <a:lstStyle/>
          <a:p>
            <a:endParaRPr/>
          </a:p>
        </p:txBody>
      </p:sp>
      <p:pic>
        <p:nvPicPr>
          <p:cNvPr id="405" name="Image" descr="Image"/>
          <p:cNvPicPr>
            <a:picLocks noChangeAspect="1"/>
          </p:cNvPicPr>
          <p:nvPr/>
        </p:nvPicPr>
        <p:blipFill>
          <a:blip r:embed="rId13"/>
          <a:stretch>
            <a:fillRect/>
          </a:stretch>
        </p:blipFill>
        <p:spPr>
          <a:xfrm>
            <a:off x="14853989" y="4721747"/>
            <a:ext cx="1511301" cy="800101"/>
          </a:xfrm>
          <a:prstGeom prst="rect">
            <a:avLst/>
          </a:prstGeom>
          <a:ln w="12700">
            <a:miter lim="400000"/>
          </a:ln>
        </p:spPr>
      </p:pic>
      <p:sp>
        <p:nvSpPr>
          <p:cNvPr id="406" name="Lasso!"/>
          <p:cNvSpPr txBox="1"/>
          <p:nvPr/>
        </p:nvSpPr>
        <p:spPr>
          <a:xfrm>
            <a:off x="15287548" y="5715234"/>
            <a:ext cx="5301130" cy="13644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B42B36"/>
                </a:solidFill>
              </a:defRPr>
            </a:lvl1pPr>
          </a:lstStyle>
          <a:p>
            <a:r>
              <a:rPr lang="en-US" dirty="0"/>
              <a:t>Supervised </a:t>
            </a:r>
            <a:r>
              <a:rPr lang="en-US" dirty="0">
                <a:solidFill>
                  <a:schemeClr val="tx1"/>
                </a:solidFill>
              </a:rPr>
              <a:t>classifier</a:t>
            </a:r>
          </a:p>
          <a:p>
            <a:r>
              <a:rPr lang="en-US" dirty="0">
                <a:solidFill>
                  <a:schemeClr val="tx1"/>
                </a:solidFill>
              </a:rPr>
              <a:t>(e.g. LASSO)</a:t>
            </a:r>
            <a:endParaRPr dirty="0">
              <a:solidFill>
                <a:schemeClr val="tx1"/>
              </a:solidFill>
            </a:endParaRPr>
          </a:p>
        </p:txBody>
      </p:sp>
      <p:sp>
        <p:nvSpPr>
          <p:cNvPr id="407" name="Line"/>
          <p:cNvSpPr/>
          <p:nvPr/>
        </p:nvSpPr>
        <p:spPr>
          <a:xfrm>
            <a:off x="17097986" y="2333516"/>
            <a:ext cx="1704173" cy="1340819"/>
          </a:xfrm>
          <a:prstGeom prst="line">
            <a:avLst/>
          </a:prstGeom>
          <a:ln w="76200">
            <a:solidFill>
              <a:srgbClr val="000000"/>
            </a:solidFill>
            <a:miter lim="400000"/>
            <a:tailEnd type="triangle"/>
          </a:ln>
        </p:spPr>
        <p:txBody>
          <a:bodyPr lIns="50800" tIns="50800" rIns="50800" bIns="50800" anchor="ctr"/>
          <a:lstStyle/>
          <a:p>
            <a:endParaRPr/>
          </a:p>
        </p:txBody>
      </p:sp>
      <p:sp>
        <p:nvSpPr>
          <p:cNvPr id="408" name="Line"/>
          <p:cNvSpPr/>
          <p:nvPr/>
        </p:nvSpPr>
        <p:spPr>
          <a:xfrm flipV="1">
            <a:off x="17051291" y="3886375"/>
            <a:ext cx="1705516" cy="1187546"/>
          </a:xfrm>
          <a:prstGeom prst="line">
            <a:avLst/>
          </a:prstGeom>
          <a:ln w="76200">
            <a:solidFill>
              <a:srgbClr val="000000"/>
            </a:solidFill>
            <a:miter lim="400000"/>
            <a:tailEnd type="triangle"/>
          </a:ln>
        </p:spPr>
        <p:txBody>
          <a:bodyPr lIns="50800" tIns="50800" rIns="50800" bIns="50800" anchor="ctr"/>
          <a:lstStyle/>
          <a:p>
            <a:endParaRPr/>
          </a:p>
        </p:txBody>
      </p:sp>
      <p:pic>
        <p:nvPicPr>
          <p:cNvPr id="409" name="Image" descr="Image"/>
          <p:cNvPicPr>
            <a:picLocks noChangeAspect="1"/>
          </p:cNvPicPr>
          <p:nvPr/>
        </p:nvPicPr>
        <p:blipFill>
          <a:blip r:embed="rId14"/>
          <a:stretch>
            <a:fillRect/>
          </a:stretch>
        </p:blipFill>
        <p:spPr>
          <a:xfrm>
            <a:off x="19243059" y="3236888"/>
            <a:ext cx="4483101" cy="1079501"/>
          </a:xfrm>
          <a:prstGeom prst="rect">
            <a:avLst/>
          </a:prstGeom>
          <a:ln w="12700">
            <a:miter lim="400000"/>
          </a:ln>
        </p:spPr>
      </p:pic>
      <p:sp>
        <p:nvSpPr>
          <p:cNvPr id="2" name="Slide Number Placeholder 1">
            <a:extLst>
              <a:ext uri="{FF2B5EF4-FFF2-40B4-BE49-F238E27FC236}">
                <a16:creationId xmlns:a16="http://schemas.microsoft.com/office/drawing/2014/main" id="{DE2D0621-71F2-A5F1-66D6-0367DF3B5BE4}"/>
              </a:ext>
            </a:extLst>
          </p:cNvPr>
          <p:cNvSpPr>
            <a:spLocks noGrp="1"/>
          </p:cNvSpPr>
          <p:nvPr>
            <p:ph type="sldNum" sz="quarter" idx="2"/>
          </p:nvPr>
        </p:nvSpPr>
        <p:spPr/>
        <p:txBody>
          <a:bodyPr/>
          <a:lstStyle/>
          <a:p>
            <a:fld id="{86CB4B4D-7CA3-9044-876B-883B54F8677D}" type="slidenum">
              <a:rPr lang="en-US" smtClean="0"/>
              <a:t>21</a:t>
            </a:fld>
            <a:endParaRPr lang="en-US"/>
          </a:p>
        </p:txBody>
      </p:sp>
      <p:sp>
        <p:nvSpPr>
          <p:cNvPr id="3" name="Rounded Rectangle 2">
            <a:extLst>
              <a:ext uri="{FF2B5EF4-FFF2-40B4-BE49-F238E27FC236}">
                <a16:creationId xmlns:a16="http://schemas.microsoft.com/office/drawing/2014/main" id="{C7A4A1C9-8EE9-16A8-9047-3C4FA6DF29A8}"/>
              </a:ext>
            </a:extLst>
          </p:cNvPr>
          <p:cNvSpPr/>
          <p:nvPr/>
        </p:nvSpPr>
        <p:spPr>
          <a:xfrm>
            <a:off x="14545482" y="4480148"/>
            <a:ext cx="2234454" cy="1235086"/>
          </a:xfrm>
          <a:prstGeom prst="roundRect">
            <a:avLst/>
          </a:prstGeom>
          <a:noFill/>
          <a:ln w="920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nvGrpSpPr>
          <p:cNvPr id="17" name="Group 16">
            <a:extLst>
              <a:ext uri="{FF2B5EF4-FFF2-40B4-BE49-F238E27FC236}">
                <a16:creationId xmlns:a16="http://schemas.microsoft.com/office/drawing/2014/main" id="{80EB37FF-EEF4-AB90-3860-28B35E942707}"/>
              </a:ext>
            </a:extLst>
          </p:cNvPr>
          <p:cNvGrpSpPr/>
          <p:nvPr/>
        </p:nvGrpSpPr>
        <p:grpSpPr>
          <a:xfrm>
            <a:off x="5595644" y="8035051"/>
            <a:ext cx="15141463" cy="2487479"/>
            <a:chOff x="5595644" y="8035051"/>
            <a:chExt cx="15141463" cy="2487479"/>
          </a:xfrm>
        </p:grpSpPr>
        <p:grpSp>
          <p:nvGrpSpPr>
            <p:cNvPr id="5" name="Group">
              <a:extLst>
                <a:ext uri="{FF2B5EF4-FFF2-40B4-BE49-F238E27FC236}">
                  <a16:creationId xmlns:a16="http://schemas.microsoft.com/office/drawing/2014/main" id="{8154209C-A475-7771-649C-B1AB82FB7B6C}"/>
                </a:ext>
              </a:extLst>
            </p:cNvPr>
            <p:cNvGrpSpPr/>
            <p:nvPr/>
          </p:nvGrpSpPr>
          <p:grpSpPr>
            <a:xfrm>
              <a:off x="6179808" y="8035051"/>
              <a:ext cx="14557299" cy="2265230"/>
              <a:chOff x="1741916" y="-434497"/>
              <a:chExt cx="14557297" cy="2265228"/>
            </a:xfrm>
          </p:grpSpPr>
          <p:sp>
            <p:nvSpPr>
              <p:cNvPr id="6" name="Group label">
                <a:extLst>
                  <a:ext uri="{FF2B5EF4-FFF2-40B4-BE49-F238E27FC236}">
                    <a16:creationId xmlns:a16="http://schemas.microsoft.com/office/drawing/2014/main" id="{EF7370FE-99F3-3751-58EC-B76606E3AF72}"/>
                  </a:ext>
                </a:extLst>
              </p:cNvPr>
              <p:cNvSpPr txBox="1"/>
              <p:nvPr/>
            </p:nvSpPr>
            <p:spPr>
              <a:xfrm>
                <a:off x="12325584" y="-314927"/>
                <a:ext cx="2977110"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B42B36"/>
                    </a:solidFill>
                  </a:defRPr>
                </a:lvl1pPr>
              </a:lstStyle>
              <a:p>
                <a:r>
                  <a:rPr dirty="0"/>
                  <a:t>Group label</a:t>
                </a:r>
              </a:p>
            </p:txBody>
          </p:sp>
          <p:sp>
            <p:nvSpPr>
              <p:cNvPr id="10" name="Gene vector">
                <a:extLst>
                  <a:ext uri="{FF2B5EF4-FFF2-40B4-BE49-F238E27FC236}">
                    <a16:creationId xmlns:a16="http://schemas.microsoft.com/office/drawing/2014/main" id="{5D49C6A7-CBA3-DDDE-E6A8-B5236BE25C1D}"/>
                  </a:ext>
                </a:extLst>
              </p:cNvPr>
              <p:cNvSpPr txBox="1"/>
              <p:nvPr/>
            </p:nvSpPr>
            <p:spPr>
              <a:xfrm>
                <a:off x="1741916" y="-434497"/>
                <a:ext cx="3133319"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B42B36"/>
                    </a:solidFill>
                  </a:defRPr>
                </a:lvl1pPr>
              </a:lstStyle>
              <a:p>
                <a:r>
                  <a:rPr dirty="0"/>
                  <a:t>Gene vector</a:t>
                </a:r>
              </a:p>
            </p:txBody>
          </p:sp>
          <p:sp>
            <p:nvSpPr>
              <p:cNvPr id="11" name="1 for">
                <a:extLst>
                  <a:ext uri="{FF2B5EF4-FFF2-40B4-BE49-F238E27FC236}">
                    <a16:creationId xmlns:a16="http://schemas.microsoft.com/office/drawing/2014/main" id="{1E45D98A-C095-CC7F-9FE9-013AAF560840}"/>
                  </a:ext>
                </a:extLst>
              </p:cNvPr>
              <p:cNvSpPr txBox="1"/>
              <p:nvPr/>
            </p:nvSpPr>
            <p:spPr>
              <a:xfrm>
                <a:off x="11506365" y="1031832"/>
                <a:ext cx="1387412"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1 for </a:t>
                </a:r>
              </a:p>
            </p:txBody>
          </p:sp>
          <p:pic>
            <p:nvPicPr>
              <p:cNvPr id="12" name="Image" descr="Image">
                <a:extLst>
                  <a:ext uri="{FF2B5EF4-FFF2-40B4-BE49-F238E27FC236}">
                    <a16:creationId xmlns:a16="http://schemas.microsoft.com/office/drawing/2014/main" id="{4EC5FC9E-A23D-CC01-C73D-B10206C8723A}"/>
                  </a:ext>
                </a:extLst>
              </p:cNvPr>
              <p:cNvPicPr>
                <a:picLocks noChangeAspect="1"/>
              </p:cNvPicPr>
              <p:nvPr/>
            </p:nvPicPr>
            <p:blipFill>
              <a:blip r:embed="rId4"/>
              <a:stretch>
                <a:fillRect/>
              </a:stretch>
            </p:blipFill>
            <p:spPr>
              <a:xfrm>
                <a:off x="12898155" y="1132230"/>
                <a:ext cx="736601" cy="596901"/>
              </a:xfrm>
              <a:prstGeom prst="rect">
                <a:avLst/>
              </a:prstGeom>
              <a:ln w="12700" cap="flat">
                <a:noFill/>
                <a:miter lim="400000"/>
              </a:ln>
              <a:effectLst/>
            </p:spPr>
          </p:pic>
          <p:sp>
            <p:nvSpPr>
              <p:cNvPr id="13" name=", 0 for">
                <a:extLst>
                  <a:ext uri="{FF2B5EF4-FFF2-40B4-BE49-F238E27FC236}">
                    <a16:creationId xmlns:a16="http://schemas.microsoft.com/office/drawing/2014/main" id="{ED18A404-97AB-AE80-D117-1CF8A6A9F3FA}"/>
                  </a:ext>
                </a:extLst>
              </p:cNvPr>
              <p:cNvSpPr txBox="1"/>
              <p:nvPr/>
            </p:nvSpPr>
            <p:spPr>
              <a:xfrm>
                <a:off x="13823723" y="1031832"/>
                <a:ext cx="167692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 0 for </a:t>
                </a:r>
              </a:p>
            </p:txBody>
          </p:sp>
          <p:pic>
            <p:nvPicPr>
              <p:cNvPr id="14" name="Image" descr="Image">
                <a:extLst>
                  <a:ext uri="{FF2B5EF4-FFF2-40B4-BE49-F238E27FC236}">
                    <a16:creationId xmlns:a16="http://schemas.microsoft.com/office/drawing/2014/main" id="{3B81D5BA-AD75-4D1A-122F-19D3BF798644}"/>
                  </a:ext>
                </a:extLst>
              </p:cNvPr>
              <p:cNvPicPr>
                <a:picLocks noChangeAspect="1"/>
              </p:cNvPicPr>
              <p:nvPr/>
            </p:nvPicPr>
            <p:blipFill>
              <a:blip r:embed="rId5"/>
              <a:stretch>
                <a:fillRect/>
              </a:stretch>
            </p:blipFill>
            <p:spPr>
              <a:xfrm>
                <a:off x="15638812" y="1132230"/>
                <a:ext cx="660401" cy="698501"/>
              </a:xfrm>
              <a:prstGeom prst="rect">
                <a:avLst/>
              </a:prstGeom>
              <a:ln w="12700" cap="flat">
                <a:noFill/>
                <a:miter lim="400000"/>
              </a:ln>
              <a:effectLst/>
            </p:spPr>
          </p:pic>
        </p:grpSp>
        <p:pic>
          <p:nvPicPr>
            <p:cNvPr id="4" name="Picture 3">
              <a:extLst>
                <a:ext uri="{FF2B5EF4-FFF2-40B4-BE49-F238E27FC236}">
                  <a16:creationId xmlns:a16="http://schemas.microsoft.com/office/drawing/2014/main" id="{28C75551-517E-431B-B2FF-F3DE8B44ED73}"/>
                </a:ext>
              </a:extLst>
            </p:cNvPr>
            <p:cNvPicPr>
              <a:picLocks noChangeAspect="1"/>
            </p:cNvPicPr>
            <p:nvPr/>
          </p:nvPicPr>
          <p:blipFill>
            <a:blip r:embed="rId15"/>
            <a:stretch>
              <a:fillRect/>
            </a:stretch>
          </p:blipFill>
          <p:spPr>
            <a:xfrm>
              <a:off x="12492678" y="8766119"/>
              <a:ext cx="1564765" cy="952466"/>
            </a:xfrm>
            <a:prstGeom prst="rect">
              <a:avLst/>
            </a:prstGeom>
          </p:spPr>
        </p:pic>
        <p:pic>
          <p:nvPicPr>
            <p:cNvPr id="16" name="Picture 15">
              <a:extLst>
                <a:ext uri="{FF2B5EF4-FFF2-40B4-BE49-F238E27FC236}">
                  <a16:creationId xmlns:a16="http://schemas.microsoft.com/office/drawing/2014/main" id="{EF671593-C7F4-DB1A-A5CB-0DE20E11EC31}"/>
                </a:ext>
              </a:extLst>
            </p:cNvPr>
            <p:cNvPicPr>
              <a:picLocks noChangeAspect="1"/>
            </p:cNvPicPr>
            <p:nvPr/>
          </p:nvPicPr>
          <p:blipFill>
            <a:blip r:embed="rId16"/>
            <a:stretch>
              <a:fillRect/>
            </a:stretch>
          </p:blipFill>
          <p:spPr>
            <a:xfrm>
              <a:off x="5595644" y="9379530"/>
              <a:ext cx="4191000" cy="1143000"/>
            </a:xfrm>
            <a:prstGeom prst="rect">
              <a:avLst/>
            </a:prstGeom>
          </p:spPr>
        </p:pic>
      </p:grpSp>
    </p:spTree>
    <p:extLst>
      <p:ext uri="{BB962C8B-B14F-4D97-AF65-F5344CB8AC3E}">
        <p14:creationId xmlns:p14="http://schemas.microsoft.com/office/powerpoint/2010/main" val="3795343934"/>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90F84B-669B-CF03-AB92-A03698E21EF3}"/>
              </a:ext>
            </a:extLst>
          </p:cNvPr>
          <p:cNvSpPr>
            <a:spLocks noGrp="1"/>
          </p:cNvSpPr>
          <p:nvPr>
            <p:ph type="sldNum" sz="quarter" idx="2"/>
          </p:nvPr>
        </p:nvSpPr>
        <p:spPr/>
        <p:txBody>
          <a:bodyPr/>
          <a:lstStyle/>
          <a:p>
            <a:fld id="{86CB4B4D-7CA3-9044-876B-883B54F8677D}" type="slidenum">
              <a:rPr lang="en-US" smtClean="0"/>
              <a:t>22</a:t>
            </a:fld>
            <a:endParaRPr lang="en-US"/>
          </a:p>
        </p:txBody>
      </p:sp>
      <p:sp>
        <p:nvSpPr>
          <p:cNvPr id="3" name="A Preferred Pipeline?">
            <a:extLst>
              <a:ext uri="{FF2B5EF4-FFF2-40B4-BE49-F238E27FC236}">
                <a16:creationId xmlns:a16="http://schemas.microsoft.com/office/drawing/2014/main" id="{860FDE16-DA2D-2FBD-92B5-9F183F9C0927}"/>
              </a:ext>
            </a:extLst>
          </p:cNvPr>
          <p:cNvSpPr txBox="1"/>
          <p:nvPr/>
        </p:nvSpPr>
        <p:spPr>
          <a:xfrm>
            <a:off x="2398648" y="1317091"/>
            <a:ext cx="6012864"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Theorem #3</a:t>
            </a:r>
            <a:endParaRPr dirty="0"/>
          </a:p>
        </p:txBody>
      </p:sp>
      <p:sp>
        <p:nvSpPr>
          <p:cNvPr id="4" name="Under global null">
            <a:extLst>
              <a:ext uri="{FF2B5EF4-FFF2-40B4-BE49-F238E27FC236}">
                <a16:creationId xmlns:a16="http://schemas.microsoft.com/office/drawing/2014/main" id="{97D5DA4F-5702-0DE4-2404-B4F344275E18}"/>
              </a:ext>
            </a:extLst>
          </p:cNvPr>
          <p:cNvSpPr txBox="1"/>
          <p:nvPr/>
        </p:nvSpPr>
        <p:spPr>
          <a:xfrm>
            <a:off x="1925554" y="3150957"/>
            <a:ext cx="14580915"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lang="en-US" dirty="0"/>
              <a:t>A </a:t>
            </a:r>
            <a:r>
              <a:rPr lang="en-US" dirty="0">
                <a:solidFill>
                  <a:srgbClr val="C51130"/>
                </a:solidFill>
              </a:rPr>
              <a:t>variation</a:t>
            </a:r>
            <a:r>
              <a:rPr lang="en-US" dirty="0"/>
              <a:t> of the above procedure, asymptotically normal</a:t>
            </a:r>
            <a:endParaRPr dirty="0"/>
          </a:p>
        </p:txBody>
      </p:sp>
      <p:grpSp>
        <p:nvGrpSpPr>
          <p:cNvPr id="11" name="Group 10">
            <a:extLst>
              <a:ext uri="{FF2B5EF4-FFF2-40B4-BE49-F238E27FC236}">
                <a16:creationId xmlns:a16="http://schemas.microsoft.com/office/drawing/2014/main" id="{7DD3262E-5A99-1130-0F78-C98E9C0666E7}"/>
              </a:ext>
            </a:extLst>
          </p:cNvPr>
          <p:cNvGrpSpPr/>
          <p:nvPr/>
        </p:nvGrpSpPr>
        <p:grpSpPr>
          <a:xfrm>
            <a:off x="-2668842" y="4525267"/>
            <a:ext cx="24696688" cy="7976047"/>
            <a:chOff x="-2668842" y="4525267"/>
            <a:chExt cx="24696688" cy="7976047"/>
          </a:xfrm>
        </p:grpSpPr>
        <p:sp>
          <p:nvSpPr>
            <p:cNvPr id="5" name="TextBox 4">
              <a:extLst>
                <a:ext uri="{FF2B5EF4-FFF2-40B4-BE49-F238E27FC236}">
                  <a16:creationId xmlns:a16="http://schemas.microsoft.com/office/drawing/2014/main" id="{C04AFFDD-DF0D-46B8-72FB-232AE95BE664}"/>
                </a:ext>
              </a:extLst>
            </p:cNvPr>
            <p:cNvSpPr txBox="1"/>
            <p:nvPr/>
          </p:nvSpPr>
          <p:spPr>
            <a:xfrm>
              <a:off x="-2668842" y="5790171"/>
              <a:ext cx="1656080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solidFill>
                    <a:srgbClr val="C51130"/>
                  </a:solidFill>
                </a:rPr>
                <a:t>Adaptive</a:t>
              </a:r>
              <a:r>
                <a:rPr lang="en-US" dirty="0"/>
                <a:t> projection direction:</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7" name="TextBox 6">
              <a:extLst>
                <a:ext uri="{FF2B5EF4-FFF2-40B4-BE49-F238E27FC236}">
                  <a16:creationId xmlns:a16="http://schemas.microsoft.com/office/drawing/2014/main" id="{1C448265-DD17-80E0-1B0A-F481700634E4}"/>
                </a:ext>
              </a:extLst>
            </p:cNvPr>
            <p:cNvSpPr txBox="1"/>
            <p:nvPr/>
          </p:nvSpPr>
          <p:spPr>
            <a:xfrm>
              <a:off x="2539912" y="7175992"/>
              <a:ext cx="14845399" cy="2626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3984CD"/>
                  </a:solidFill>
                  <a:effectLst/>
                  <a:uFillTx/>
                  <a:latin typeface="Helvetica Neue"/>
                  <a:ea typeface="Helvetica Neue"/>
                  <a:cs typeface="Helvetica Neue"/>
                  <a:sym typeface="Helvetica Neue"/>
                </a:rPr>
                <a:t>No difference</a:t>
              </a: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PC1 direction. </a:t>
              </a:r>
            </a:p>
            <a:p>
              <a:pPr marL="0" marR="0" indent="0" algn="l" defTabSz="825500" rtl="0" fontAlgn="auto" latinLnBrk="0" hangingPunct="0">
                <a:lnSpc>
                  <a:spcPct val="100000"/>
                </a:lnSpc>
                <a:spcBef>
                  <a:spcPts val="0"/>
                </a:spcBef>
                <a:spcAft>
                  <a:spcPts val="0"/>
                </a:spcAft>
                <a:buClrTx/>
                <a:buSzTx/>
                <a:buFontTx/>
                <a:buNone/>
                <a:tabLst/>
              </a:pP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a:p>
              <a:pPr marL="0" marR="0" indent="0" algn="l"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E7A419"/>
                  </a:solidFill>
                  <a:effectLst/>
                  <a:uFillTx/>
                  <a:latin typeface="Helvetica Neue"/>
                  <a:ea typeface="Helvetica Neue"/>
                  <a:cs typeface="Helvetica Neue"/>
                  <a:sym typeface="Helvetica Neue"/>
                </a:rPr>
                <a:t>Exist DE genes</a:t>
              </a: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gradually shift to discriminant direction</a:t>
              </a:r>
              <a:endParaRPr lang="en-US" dirty="0"/>
            </a:p>
            <a:p>
              <a:pPr marL="0" marR="0" indent="0" algn="l"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DE genes having non-zero loadings</a:t>
              </a:r>
            </a:p>
          </p:txBody>
        </p:sp>
        <p:pic>
          <p:nvPicPr>
            <p:cNvPr id="9" name="Picture 8" descr="A graph with dots and numbers&#10;&#10;Description automatically generated">
              <a:extLst>
                <a:ext uri="{FF2B5EF4-FFF2-40B4-BE49-F238E27FC236}">
                  <a16:creationId xmlns:a16="http://schemas.microsoft.com/office/drawing/2014/main" id="{F40C85A0-2801-1F97-9CC1-D0A361FD1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01553" y="9072596"/>
              <a:ext cx="4826293" cy="3428718"/>
            </a:xfrm>
            <a:prstGeom prst="rect">
              <a:avLst/>
            </a:prstGeom>
          </p:spPr>
        </p:pic>
        <p:pic>
          <p:nvPicPr>
            <p:cNvPr id="10" name="Picture 9" descr="A graph with blue dots&#10;&#10;Description automatically generated">
              <a:extLst>
                <a:ext uri="{FF2B5EF4-FFF2-40B4-BE49-F238E27FC236}">
                  <a16:creationId xmlns:a16="http://schemas.microsoft.com/office/drawing/2014/main" id="{B9152C10-0125-4549-55C6-4514090111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01553" y="4525267"/>
              <a:ext cx="3766989" cy="3453073"/>
            </a:xfrm>
            <a:prstGeom prst="rect">
              <a:avLst/>
            </a:prstGeom>
          </p:spPr>
        </p:pic>
        <p:cxnSp>
          <p:nvCxnSpPr>
            <p:cNvPr id="17" name="Straight Arrow Connector 16">
              <a:extLst>
                <a:ext uri="{FF2B5EF4-FFF2-40B4-BE49-F238E27FC236}">
                  <a16:creationId xmlns:a16="http://schemas.microsoft.com/office/drawing/2014/main" id="{77E2965D-2EEF-0EA5-CFB0-06BD4CC65DAB}"/>
                </a:ext>
              </a:extLst>
            </p:cNvPr>
            <p:cNvCxnSpPr>
              <a:cxnSpLocks/>
            </p:cNvCxnSpPr>
            <p:nvPr/>
          </p:nvCxnSpPr>
          <p:spPr>
            <a:xfrm flipV="1">
              <a:off x="18010909" y="5292436"/>
              <a:ext cx="2078182" cy="1702962"/>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Straight Arrow Connector 19">
              <a:extLst>
                <a:ext uri="{FF2B5EF4-FFF2-40B4-BE49-F238E27FC236}">
                  <a16:creationId xmlns:a16="http://schemas.microsoft.com/office/drawing/2014/main" id="{D91A217C-1BB5-C681-884C-4F4401F69400}"/>
                </a:ext>
              </a:extLst>
            </p:cNvPr>
            <p:cNvCxnSpPr>
              <a:cxnSpLocks/>
            </p:cNvCxnSpPr>
            <p:nvPr/>
          </p:nvCxnSpPr>
          <p:spPr>
            <a:xfrm flipH="1" flipV="1">
              <a:off x="18327235" y="9859699"/>
              <a:ext cx="1761856" cy="1854512"/>
            </a:xfrm>
            <a:prstGeom prst="straightConnector1">
              <a:avLst/>
            </a:prstGeom>
            <a:noFill/>
            <a:ln w="114300" cap="flat">
              <a:solidFill>
                <a:schemeClr val="accent6">
                  <a:lumMod val="75000"/>
                  <a:alpha val="71000"/>
                </a:schemeClr>
              </a:solidFill>
              <a:prstDash val="solid"/>
              <a:miter lim="400000"/>
              <a:tailEnd type="triangle"/>
            </a:ln>
            <a:effectLst/>
            <a:sp3d/>
          </p:spPr>
          <p:style>
            <a:lnRef idx="0">
              <a:scrgbClr r="0" g="0" b="0"/>
            </a:lnRef>
            <a:fillRef idx="0">
              <a:scrgbClr r="0" g="0" b="0"/>
            </a:fillRef>
            <a:effectRef idx="0">
              <a:scrgbClr r="0" g="0" b="0"/>
            </a:effectRef>
            <a:fontRef idx="none"/>
          </p:style>
        </p:cxnSp>
      </p:grpSp>
      <p:sp>
        <p:nvSpPr>
          <p:cNvPr id="6" name="TextBox 5">
            <a:extLst>
              <a:ext uri="{FF2B5EF4-FFF2-40B4-BE49-F238E27FC236}">
                <a16:creationId xmlns:a16="http://schemas.microsoft.com/office/drawing/2014/main" id="{43025F87-31BE-AC3A-F213-074007562130}"/>
              </a:ext>
            </a:extLst>
          </p:cNvPr>
          <p:cNvSpPr txBox="1"/>
          <p:nvPr/>
        </p:nvSpPr>
        <p:spPr>
          <a:xfrm>
            <a:off x="6144185" y="4201746"/>
            <a:ext cx="145713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when</a:t>
            </a:r>
          </a:p>
        </p:txBody>
      </p:sp>
      <p:pic>
        <p:nvPicPr>
          <p:cNvPr id="8" name="Picture 7">
            <a:extLst>
              <a:ext uri="{FF2B5EF4-FFF2-40B4-BE49-F238E27FC236}">
                <a16:creationId xmlns:a16="http://schemas.microsoft.com/office/drawing/2014/main" id="{75A3A29C-D7A0-D0BF-F882-CA0CD8F9606A}"/>
              </a:ext>
            </a:extLst>
          </p:cNvPr>
          <p:cNvPicPr>
            <a:picLocks noChangeAspect="1"/>
          </p:cNvPicPr>
          <p:nvPr/>
        </p:nvPicPr>
        <p:blipFill>
          <a:blip r:embed="rId5"/>
          <a:stretch>
            <a:fillRect/>
          </a:stretch>
        </p:blipFill>
        <p:spPr>
          <a:xfrm>
            <a:off x="7887367" y="4415566"/>
            <a:ext cx="2889607" cy="519714"/>
          </a:xfrm>
          <a:prstGeom prst="rect">
            <a:avLst/>
          </a:prstGeom>
        </p:spPr>
      </p:pic>
    </p:spTree>
    <p:extLst>
      <p:ext uri="{BB962C8B-B14F-4D97-AF65-F5344CB8AC3E}">
        <p14:creationId xmlns:p14="http://schemas.microsoft.com/office/powerpoint/2010/main" val="1274358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35E61F-F252-B92C-C248-E5AD03782978}"/>
              </a:ext>
            </a:extLst>
          </p:cNvPr>
          <p:cNvSpPr>
            <a:spLocks noGrp="1"/>
          </p:cNvSpPr>
          <p:nvPr>
            <p:ph type="sldNum" sz="quarter" idx="2"/>
          </p:nvPr>
        </p:nvSpPr>
        <p:spPr/>
        <p:txBody>
          <a:bodyPr/>
          <a:lstStyle/>
          <a:p>
            <a:fld id="{86CB4B4D-7CA3-9044-876B-883B54F8677D}" type="slidenum">
              <a:rPr lang="en-US" smtClean="0"/>
              <a:t>23</a:t>
            </a:fld>
            <a:endParaRPr lang="en-US"/>
          </a:p>
        </p:txBody>
      </p:sp>
      <p:grpSp>
        <p:nvGrpSpPr>
          <p:cNvPr id="3" name="Group 2">
            <a:extLst>
              <a:ext uri="{FF2B5EF4-FFF2-40B4-BE49-F238E27FC236}">
                <a16:creationId xmlns:a16="http://schemas.microsoft.com/office/drawing/2014/main" id="{A4A4A20D-DF66-3B93-F83F-4F1D6D398BEC}"/>
              </a:ext>
            </a:extLst>
          </p:cNvPr>
          <p:cNvGrpSpPr/>
          <p:nvPr/>
        </p:nvGrpSpPr>
        <p:grpSpPr>
          <a:xfrm>
            <a:off x="5966866" y="681164"/>
            <a:ext cx="15356574" cy="12353671"/>
            <a:chOff x="8184658" y="957858"/>
            <a:chExt cx="15356574" cy="12353671"/>
          </a:xfrm>
        </p:grpSpPr>
        <p:grpSp>
          <p:nvGrpSpPr>
            <p:cNvPr id="4" name="Group 3">
              <a:extLst>
                <a:ext uri="{FF2B5EF4-FFF2-40B4-BE49-F238E27FC236}">
                  <a16:creationId xmlns:a16="http://schemas.microsoft.com/office/drawing/2014/main" id="{20C21718-CCD7-BEF3-10BD-D408CAD897C5}"/>
                </a:ext>
              </a:extLst>
            </p:cNvPr>
            <p:cNvGrpSpPr/>
            <p:nvPr/>
          </p:nvGrpSpPr>
          <p:grpSpPr>
            <a:xfrm>
              <a:off x="8184658" y="957858"/>
              <a:ext cx="11913583" cy="12353671"/>
              <a:chOff x="6228858" y="1188388"/>
              <a:chExt cx="11913583" cy="12353671"/>
            </a:xfrm>
          </p:grpSpPr>
          <p:grpSp>
            <p:nvGrpSpPr>
              <p:cNvPr id="9" name="Group 8">
                <a:extLst>
                  <a:ext uri="{FF2B5EF4-FFF2-40B4-BE49-F238E27FC236}">
                    <a16:creationId xmlns:a16="http://schemas.microsoft.com/office/drawing/2014/main" id="{98D94686-84A4-28C0-2DA1-6A10445D9598}"/>
                  </a:ext>
                </a:extLst>
              </p:cNvPr>
              <p:cNvGrpSpPr/>
              <p:nvPr/>
            </p:nvGrpSpPr>
            <p:grpSpPr>
              <a:xfrm>
                <a:off x="6228858" y="1188388"/>
                <a:ext cx="11913583" cy="12353671"/>
                <a:chOff x="5910943" y="620486"/>
                <a:chExt cx="11913583" cy="12353671"/>
              </a:xfrm>
            </p:grpSpPr>
            <p:grpSp>
              <p:nvGrpSpPr>
                <p:cNvPr id="11" name="Group 10">
                  <a:extLst>
                    <a:ext uri="{FF2B5EF4-FFF2-40B4-BE49-F238E27FC236}">
                      <a16:creationId xmlns:a16="http://schemas.microsoft.com/office/drawing/2014/main" id="{F08AE714-3D98-FB9A-6C2D-125536CBF3F0}"/>
                    </a:ext>
                  </a:extLst>
                </p:cNvPr>
                <p:cNvGrpSpPr/>
                <p:nvPr/>
              </p:nvGrpSpPr>
              <p:grpSpPr>
                <a:xfrm>
                  <a:off x="6093536" y="741843"/>
                  <a:ext cx="11730990" cy="12232314"/>
                  <a:chOff x="5321390" y="-3079042"/>
                  <a:chExt cx="11730990" cy="12232314"/>
                </a:xfrm>
              </p:grpSpPr>
              <p:pic>
                <p:nvPicPr>
                  <p:cNvPr id="13" name="Picture 12" descr="A diagram of a group and control&#10;&#10;Description automatically generated">
                    <a:extLst>
                      <a:ext uri="{FF2B5EF4-FFF2-40B4-BE49-F238E27FC236}">
                        <a16:creationId xmlns:a16="http://schemas.microsoft.com/office/drawing/2014/main" id="{7BB81F5A-47CB-4CD2-25C3-DE9A70F8F6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390" y="-3079042"/>
                    <a:ext cx="11730990" cy="12232314"/>
                  </a:xfrm>
                  <a:prstGeom prst="rect">
                    <a:avLst/>
                  </a:prstGeom>
                </p:spPr>
              </p:pic>
              <p:sp>
                <p:nvSpPr>
                  <p:cNvPr id="14" name="Rectangle 13">
                    <a:extLst>
                      <a:ext uri="{FF2B5EF4-FFF2-40B4-BE49-F238E27FC236}">
                        <a16:creationId xmlns:a16="http://schemas.microsoft.com/office/drawing/2014/main" id="{005AB85D-1FC6-006E-F9F8-D44E03D29E15}"/>
                      </a:ext>
                    </a:extLst>
                  </p:cNvPr>
                  <p:cNvSpPr/>
                  <p:nvPr/>
                </p:nvSpPr>
                <p:spPr>
                  <a:xfrm>
                    <a:off x="6792686" y="741843"/>
                    <a:ext cx="653143" cy="53178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2" name="Rectangle 11">
                  <a:extLst>
                    <a:ext uri="{FF2B5EF4-FFF2-40B4-BE49-F238E27FC236}">
                      <a16:creationId xmlns:a16="http://schemas.microsoft.com/office/drawing/2014/main" id="{014D2994-EA4D-8628-EE32-F3B257A3986C}"/>
                    </a:ext>
                  </a:extLst>
                </p:cNvPr>
                <p:cNvSpPr/>
                <p:nvPr/>
              </p:nvSpPr>
              <p:spPr>
                <a:xfrm>
                  <a:off x="5910943" y="620486"/>
                  <a:ext cx="1208314" cy="81642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0" name="Rectangle 9">
                <a:extLst>
                  <a:ext uri="{FF2B5EF4-FFF2-40B4-BE49-F238E27FC236}">
                    <a16:creationId xmlns:a16="http://schemas.microsoft.com/office/drawing/2014/main" id="{2E3AA2AC-1555-D5EF-4D8A-C5021A4A8013}"/>
                  </a:ext>
                </a:extLst>
              </p:cNvPr>
              <p:cNvSpPr/>
              <p:nvPr/>
            </p:nvSpPr>
            <p:spPr>
              <a:xfrm>
                <a:off x="9956800" y="12877024"/>
                <a:ext cx="6096000" cy="66503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pic>
          <p:nvPicPr>
            <p:cNvPr id="5" name="Picture 4" descr="A yellow circle on a white background&#10;&#10;Description automatically generated">
              <a:extLst>
                <a:ext uri="{FF2B5EF4-FFF2-40B4-BE49-F238E27FC236}">
                  <a16:creationId xmlns:a16="http://schemas.microsoft.com/office/drawing/2014/main" id="{0231A53D-0AFD-FC95-E828-EAAC8C70AD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86041" y="4970689"/>
              <a:ext cx="1083496" cy="1166048"/>
            </a:xfrm>
            <a:prstGeom prst="rect">
              <a:avLst/>
            </a:prstGeom>
          </p:spPr>
        </p:pic>
        <p:pic>
          <p:nvPicPr>
            <p:cNvPr id="6" name="Picture 5" descr="A blue triangle on a white background&#10;&#10;Description automatically generated">
              <a:extLst>
                <a:ext uri="{FF2B5EF4-FFF2-40B4-BE49-F238E27FC236}">
                  <a16:creationId xmlns:a16="http://schemas.microsoft.com/office/drawing/2014/main" id="{E9FAC56C-36AE-7F2A-9110-FEE7396FF7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80834" y="3405952"/>
              <a:ext cx="1207693" cy="1166048"/>
            </a:xfrm>
            <a:prstGeom prst="rect">
              <a:avLst/>
            </a:prstGeom>
          </p:spPr>
        </p:pic>
        <p:sp>
          <p:nvSpPr>
            <p:cNvPr id="7" name="TextBox 6">
              <a:extLst>
                <a:ext uri="{FF2B5EF4-FFF2-40B4-BE49-F238E27FC236}">
                  <a16:creationId xmlns:a16="http://schemas.microsoft.com/office/drawing/2014/main" id="{994FF92A-22FD-EE4E-2145-29DC97F138F3}"/>
                </a:ext>
              </a:extLst>
            </p:cNvPr>
            <p:cNvSpPr txBox="1"/>
            <p:nvPr/>
          </p:nvSpPr>
          <p:spPr>
            <a:xfrm>
              <a:off x="21882320" y="3639982"/>
              <a:ext cx="137698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Case</a:t>
              </a:r>
            </a:p>
          </p:txBody>
        </p:sp>
        <p:sp>
          <p:nvSpPr>
            <p:cNvPr id="8" name="TextBox 7">
              <a:extLst>
                <a:ext uri="{FF2B5EF4-FFF2-40B4-BE49-F238E27FC236}">
                  <a16:creationId xmlns:a16="http://schemas.microsoft.com/office/drawing/2014/main" id="{C140BA27-3134-D35B-6F26-92A9EC6B6838}"/>
                </a:ext>
              </a:extLst>
            </p:cNvPr>
            <p:cNvSpPr txBox="1"/>
            <p:nvPr/>
          </p:nvSpPr>
          <p:spPr>
            <a:xfrm>
              <a:off x="21569537" y="5004706"/>
              <a:ext cx="197169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Control</a:t>
              </a:r>
            </a:p>
          </p:txBody>
        </p:sp>
      </p:grpSp>
      <p:cxnSp>
        <p:nvCxnSpPr>
          <p:cNvPr id="15" name="Straight Arrow Connector 14">
            <a:extLst>
              <a:ext uri="{FF2B5EF4-FFF2-40B4-BE49-F238E27FC236}">
                <a16:creationId xmlns:a16="http://schemas.microsoft.com/office/drawing/2014/main" id="{A0D1ED46-EDE0-6040-79DD-EB9A0D47C743}"/>
              </a:ext>
            </a:extLst>
          </p:cNvPr>
          <p:cNvCxnSpPr>
            <a:cxnSpLocks/>
          </p:cNvCxnSpPr>
          <p:nvPr/>
        </p:nvCxnSpPr>
        <p:spPr>
          <a:xfrm>
            <a:off x="9022043" y="7479145"/>
            <a:ext cx="8628648" cy="0"/>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9" name="Straight Arrow Connector 18">
            <a:extLst>
              <a:ext uri="{FF2B5EF4-FFF2-40B4-BE49-F238E27FC236}">
                <a16:creationId xmlns:a16="http://schemas.microsoft.com/office/drawing/2014/main" id="{4E49314A-E86C-FE24-14A7-A8D36995C850}"/>
              </a:ext>
            </a:extLst>
          </p:cNvPr>
          <p:cNvCxnSpPr>
            <a:cxnSpLocks/>
          </p:cNvCxnSpPr>
          <p:nvPr/>
        </p:nvCxnSpPr>
        <p:spPr>
          <a:xfrm flipV="1">
            <a:off x="10181349" y="2133600"/>
            <a:ext cx="0" cy="8074891"/>
          </a:xfrm>
          <a:prstGeom prst="straightConnector1">
            <a:avLst/>
          </a:prstGeom>
          <a:noFill/>
          <a:ln w="114300" cap="flat">
            <a:solidFill>
              <a:schemeClr val="accent2">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9C6586A2-C920-6EFF-A5DF-E66897FA8807}"/>
              </a:ext>
            </a:extLst>
          </p:cNvPr>
          <p:cNvSpPr txBox="1"/>
          <p:nvPr/>
        </p:nvSpPr>
        <p:spPr>
          <a:xfrm>
            <a:off x="18690121" y="7855958"/>
            <a:ext cx="3912931"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E93F8F"/>
                </a:solidFill>
                <a:effectLst/>
                <a:uFillTx/>
                <a:latin typeface="Helvetica Neue"/>
                <a:ea typeface="Helvetica Neue"/>
                <a:cs typeface="Helvetica Neue"/>
                <a:sym typeface="Helvetica Neue"/>
              </a:rPr>
              <a:t>P-value = 0.047</a:t>
            </a:r>
          </a:p>
        </p:txBody>
      </p:sp>
      <p:sp>
        <p:nvSpPr>
          <p:cNvPr id="23" name="TextBox 22">
            <a:extLst>
              <a:ext uri="{FF2B5EF4-FFF2-40B4-BE49-F238E27FC236}">
                <a16:creationId xmlns:a16="http://schemas.microsoft.com/office/drawing/2014/main" id="{F22B88F6-6CA7-1D06-B2FD-F3E130702FD0}"/>
              </a:ext>
            </a:extLst>
          </p:cNvPr>
          <p:cNvSpPr txBox="1"/>
          <p:nvPr/>
        </p:nvSpPr>
        <p:spPr>
          <a:xfrm>
            <a:off x="5130471" y="634999"/>
            <a:ext cx="3912931"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44B9A8"/>
                </a:solidFill>
                <a:effectLst/>
                <a:uFillTx/>
                <a:latin typeface="Helvetica Neue"/>
                <a:ea typeface="Helvetica Neue"/>
                <a:cs typeface="Helvetica Neue"/>
                <a:sym typeface="Helvetica Neue"/>
              </a:rPr>
              <a:t>P-value = 0.004</a:t>
            </a:r>
          </a:p>
        </p:txBody>
      </p:sp>
      <p:sp>
        <p:nvSpPr>
          <p:cNvPr id="25" name="TextBox 24">
            <a:extLst>
              <a:ext uri="{FF2B5EF4-FFF2-40B4-BE49-F238E27FC236}">
                <a16:creationId xmlns:a16="http://schemas.microsoft.com/office/drawing/2014/main" id="{77BE1CAE-2965-828D-EABF-5721AA154083}"/>
              </a:ext>
            </a:extLst>
          </p:cNvPr>
          <p:cNvSpPr txBox="1"/>
          <p:nvPr/>
        </p:nvSpPr>
        <p:spPr>
          <a:xfrm>
            <a:off x="1733557" y="8977745"/>
            <a:ext cx="4415902" cy="19954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C00000"/>
                </a:solidFill>
                <a:effectLst/>
                <a:uFillTx/>
                <a:latin typeface="Helvetica Neue"/>
                <a:ea typeface="Helvetica Neue"/>
                <a:cs typeface="Helvetica Neue"/>
                <a:sym typeface="Helvetica Neue"/>
              </a:rPr>
              <a:t>Projection on LASSO direction </a:t>
            </a:r>
          </a:p>
          <a:p>
            <a:pPr marL="0" marR="0" indent="0" algn="ctr" defTabSz="825500" rtl="0" fontAlgn="auto" latinLnBrk="0" hangingPunct="0">
              <a:lnSpc>
                <a:spcPct val="100000"/>
              </a:lnSpc>
              <a:spcBef>
                <a:spcPts val="0"/>
              </a:spcBef>
              <a:spcAft>
                <a:spcPts val="0"/>
              </a:spcAft>
              <a:buClrTx/>
              <a:buSzTx/>
              <a:buFontTx/>
              <a:buNone/>
              <a:tabLst/>
            </a:pPr>
            <a:r>
              <a:rPr lang="en-US" dirty="0">
                <a:solidFill>
                  <a:srgbClr val="C00000"/>
                </a:solidFill>
              </a:rPr>
              <a:t>p-value &lt; 0.001</a:t>
            </a:r>
            <a:endParaRPr kumimoji="0" lang="en-US" sz="4100" b="1" i="0" u="none" strike="noStrike" cap="none" spc="0" normalizeH="0" baseline="0" dirty="0">
              <a:ln>
                <a:noFill/>
              </a:ln>
              <a:solidFill>
                <a:srgbClr val="C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16715134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A8AD2D-3154-5E8F-A027-9DB501B396B9}"/>
              </a:ext>
            </a:extLst>
          </p:cNvPr>
          <p:cNvSpPr>
            <a:spLocks noGrp="1"/>
          </p:cNvSpPr>
          <p:nvPr>
            <p:ph type="sldNum" sz="quarter" idx="2"/>
          </p:nvPr>
        </p:nvSpPr>
        <p:spPr/>
        <p:txBody>
          <a:bodyPr/>
          <a:lstStyle/>
          <a:p>
            <a:fld id="{86CB4B4D-7CA3-9044-876B-883B54F8677D}" type="slidenum">
              <a:rPr lang="en-US" smtClean="0"/>
              <a:t>24</a:t>
            </a:fld>
            <a:endParaRPr lang="en-US"/>
          </a:p>
        </p:txBody>
      </p:sp>
      <p:sp>
        <p:nvSpPr>
          <p:cNvPr id="3" name="TextBox 2">
            <a:extLst>
              <a:ext uri="{FF2B5EF4-FFF2-40B4-BE49-F238E27FC236}">
                <a16:creationId xmlns:a16="http://schemas.microsoft.com/office/drawing/2014/main" id="{F107FDE1-03E5-6481-E3C6-8741CEBEA0B6}"/>
              </a:ext>
            </a:extLst>
          </p:cNvPr>
          <p:cNvSpPr txBox="1"/>
          <p:nvPr/>
        </p:nvSpPr>
        <p:spPr>
          <a:xfrm>
            <a:off x="9254838" y="8407589"/>
            <a:ext cx="17750870"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R CRAN Package: </a:t>
            </a:r>
            <a:r>
              <a:rPr lang="en-US" dirty="0">
                <a:solidFill>
                  <a:srgbClr val="C00000"/>
                </a:solidFill>
              </a:rPr>
              <a:t>HMC</a:t>
            </a:r>
          </a:p>
          <a:p>
            <a:pPr marL="0" marR="0" indent="0" algn="ctr" defTabSz="825500" rtl="0" fontAlgn="auto" latinLnBrk="0" hangingPunct="0">
              <a:lnSpc>
                <a:spcPct val="100000"/>
              </a:lnSpc>
              <a:spcBef>
                <a:spcPts val="0"/>
              </a:spcBef>
              <a:spcAft>
                <a:spcPts val="0"/>
              </a:spcAft>
              <a:buClrTx/>
              <a:buSzTx/>
              <a:buFontTx/>
              <a:buNone/>
              <a:tabLst/>
            </a:pPr>
            <a:r>
              <a:rPr lang="en-US" dirty="0"/>
              <a:t>Paper title same as the talk title </a:t>
            </a:r>
          </a:p>
        </p:txBody>
      </p:sp>
      <p:sp>
        <p:nvSpPr>
          <p:cNvPr id="4" name="A Preferred Pipeline?">
            <a:extLst>
              <a:ext uri="{FF2B5EF4-FFF2-40B4-BE49-F238E27FC236}">
                <a16:creationId xmlns:a16="http://schemas.microsoft.com/office/drawing/2014/main" id="{30B038FA-8F37-77F6-4485-4F2042032CB6}"/>
              </a:ext>
            </a:extLst>
          </p:cNvPr>
          <p:cNvSpPr txBox="1"/>
          <p:nvPr/>
        </p:nvSpPr>
        <p:spPr>
          <a:xfrm>
            <a:off x="8930958" y="4660422"/>
            <a:ext cx="6056146"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Thank You~</a:t>
            </a:r>
            <a:endParaRPr dirty="0"/>
          </a:p>
        </p:txBody>
      </p:sp>
    </p:spTree>
    <p:extLst>
      <p:ext uri="{BB962C8B-B14F-4D97-AF65-F5344CB8AC3E}">
        <p14:creationId xmlns:p14="http://schemas.microsoft.com/office/powerpoint/2010/main" val="24813402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2075" cap="flat">
          <a:solidFill>
            <a:srgbClr val="C00000"/>
          </a:solid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14429</TotalTime>
  <Words>1381</Words>
  <Application>Microsoft Macintosh PowerPoint</Application>
  <PresentationFormat>Custom</PresentationFormat>
  <Paragraphs>211</Paragraphs>
  <Slides>24</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Helvetica Neue</vt:lpstr>
      <vt:lpstr>Helvetica Neue Light</vt:lpstr>
      <vt:lpstr>Helvetica Neue Medium</vt:lpstr>
      <vt:lpstr>White</vt:lpstr>
      <vt:lpstr>Debiased Projected Two-Sample Comparison  for Single-cell Differential Expression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High-dimensional Mean Testing Problems in Single-Cell RNA sequencing Data</dc:title>
  <cp:lastModifiedBy>Tianyu Zhang</cp:lastModifiedBy>
  <cp:revision>287</cp:revision>
  <dcterms:modified xsi:type="dcterms:W3CDTF">2024-04-30T03:16:43Z</dcterms:modified>
</cp:coreProperties>
</file>